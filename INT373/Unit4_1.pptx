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68" r:id="rId15"/>
    <p:sldId id="269" r:id="rId16"/>
    <p:sldId id="277" r:id="rId17"/>
    <p:sldId id="270" r:id="rId18"/>
    <p:sldId id="271" r:id="rId19"/>
    <p:sldId id="272" r:id="rId20"/>
    <p:sldId id="273" r:id="rId21"/>
    <p:sldId id="274" r:id="rId22"/>
    <p:sldId id="280" r:id="rId23"/>
    <p:sldId id="281" r:id="rId24"/>
    <p:sldId id="282" r:id="rId25"/>
    <p:sldId id="288" r:id="rId26"/>
    <p:sldId id="287" r:id="rId27"/>
    <p:sldId id="286" r:id="rId28"/>
    <p:sldId id="285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08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75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74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5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66776"/>
            <a:ext cx="78867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07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216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689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87425"/>
            <a:ext cx="2949178" cy="106997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1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87425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2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65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34291"/>
            <a:ext cx="1971675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34291"/>
            <a:ext cx="5800725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33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813302"/>
            <a:ext cx="7886700" cy="877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2" y="136525"/>
            <a:ext cx="1350150" cy="6282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13" t="24036" r="8813" b="24036"/>
          <a:stretch>
            <a:fillRect/>
          </a:stretch>
        </p:blipFill>
        <p:spPr>
          <a:xfrm>
            <a:off x="7905519" y="44450"/>
            <a:ext cx="1219662" cy="768852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6352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vgkahOzFH2Q?si=X_EtqmQQKaNmhTb4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UNIT-4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Software Development Best Practices</a:t>
            </a:r>
            <a:endParaRPr lang="en-IN" sz="33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477837"/>
          </a:xfrm>
        </p:spPr>
        <p:txBody>
          <a:bodyPr>
            <a:normAutofit fontScale="90000"/>
          </a:bodyPr>
          <a:lstStyle/>
          <a:p>
            <a:r>
              <a:rPr dirty="0"/>
              <a:t>What is TDD?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1828800"/>
            <a:ext cx="6858000" cy="342900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 dirty="0"/>
              <a:t>Write tests before writing actual code.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 dirty="0"/>
              <a:t>Follows the Red-Green-Refactor cycle.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 dirty="0"/>
              <a:t>Improves code quality and reduces bugs.</a:t>
            </a:r>
            <a:endParaRPr lang="en-GB" sz="2800" dirty="0"/>
          </a:p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C954D91-349E-44F7-8CAB-66EE6AB96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47414"/>
            <a:ext cx="6724357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720505"/>
          </a:xfrm>
        </p:spPr>
        <p:txBody>
          <a:bodyPr/>
          <a:lstStyle/>
          <a:p>
            <a:r>
              <a:rPr dirty="0"/>
              <a:t>TDD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2124222"/>
            <a:ext cx="6858000" cy="3133578"/>
          </a:xfrm>
        </p:spPr>
        <p:txBody>
          <a:bodyPr>
            <a:normAutofit/>
          </a:bodyPr>
          <a:lstStyle/>
          <a:p>
            <a:endParaRPr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Write a test case (Red phase).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Run the test (Fails initially).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Write minimum code to pass the test (Green phase).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Refactor the code for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579828"/>
          </a:xfrm>
        </p:spPr>
        <p:txBody>
          <a:bodyPr>
            <a:normAutofit fontScale="90000"/>
          </a:bodyPr>
          <a:lstStyle/>
          <a:p>
            <a:r>
              <a:rPr dirty="0"/>
              <a:t>TDD Scenario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1955409"/>
            <a:ext cx="6858000" cy="3615397"/>
          </a:xfrm>
        </p:spPr>
        <p:txBody>
          <a:bodyPr>
            <a:normAutofit/>
          </a:bodyPr>
          <a:lstStyle/>
          <a:p>
            <a:endParaRPr dirty="0"/>
          </a:p>
          <a:p>
            <a:pPr algn="just"/>
            <a:r>
              <a:rPr sz="2400" dirty="0"/>
              <a:t>Scenario: Developing a login feature</a:t>
            </a:r>
          </a:p>
          <a:p>
            <a:pPr algn="just"/>
            <a:r>
              <a:rPr sz="2400" dirty="0"/>
              <a:t>1. Write a test to check login with correct username and password.</a:t>
            </a:r>
          </a:p>
          <a:p>
            <a:pPr algn="just"/>
            <a:r>
              <a:rPr sz="2400" dirty="0"/>
              <a:t>2. Run the test (Fails initially).</a:t>
            </a:r>
          </a:p>
          <a:p>
            <a:pPr algn="just"/>
            <a:r>
              <a:rPr sz="2400" dirty="0"/>
              <a:t>3. Implement basic login logic.</a:t>
            </a:r>
          </a:p>
          <a:p>
            <a:pPr algn="just"/>
            <a:r>
              <a:rPr sz="2400" dirty="0"/>
              <a:t>4. Run the test again (Passes).</a:t>
            </a:r>
          </a:p>
          <a:p>
            <a:pPr algn="just"/>
            <a:r>
              <a:rPr sz="2400" dirty="0"/>
              <a:t>5. Refactor the code for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804911"/>
          </a:xfrm>
        </p:spPr>
        <p:txBody>
          <a:bodyPr/>
          <a:lstStyle/>
          <a:p>
            <a:r>
              <a:rPr dirty="0"/>
              <a:t>Advantages of TDD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2025748"/>
            <a:ext cx="6858000" cy="3232052"/>
          </a:xfrm>
        </p:spPr>
        <p:txBody>
          <a:bodyPr/>
          <a:lstStyle/>
          <a:p>
            <a:endParaRPr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800" dirty="0"/>
              <a:t>Ensures better code coverage.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800" dirty="0"/>
              <a:t>Reduces debugging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800" dirty="0"/>
              <a:t>Encourages modular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879475"/>
          </a:xfrm>
        </p:spPr>
        <p:txBody>
          <a:bodyPr/>
          <a:lstStyle/>
          <a:p>
            <a:r>
              <a:rPr dirty="0"/>
              <a:t>What is BDD?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2001838"/>
            <a:ext cx="6858000" cy="1655762"/>
          </a:xfrm>
        </p:spPr>
        <p:txBody>
          <a:bodyPr/>
          <a:lstStyle/>
          <a:p>
            <a:endParaRPr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Extension of TDD with a focus on behavior.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Uses plain language (Gherkin syntax).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Encourages collaboration between teams.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3CAFB76-08B9-45DF-8775-4255EE6AB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39" y="3657600"/>
            <a:ext cx="6189784" cy="2899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762708"/>
          </a:xfrm>
        </p:spPr>
        <p:txBody>
          <a:bodyPr/>
          <a:lstStyle/>
          <a:p>
            <a:r>
              <a:rPr dirty="0"/>
              <a:t>BDD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2053883"/>
            <a:ext cx="6858000" cy="3203917"/>
          </a:xfrm>
        </p:spPr>
        <p:txBody>
          <a:bodyPr>
            <a:normAutofit/>
          </a:bodyPr>
          <a:lstStyle/>
          <a:p>
            <a:endParaRPr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 dirty="0"/>
              <a:t>Define feature behavior in Given-When-Then format.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 dirty="0"/>
              <a:t>Write failing test cases based on behavior.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 dirty="0"/>
              <a:t>Implement code to satisfy the behavior.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 dirty="0"/>
              <a:t>Run tests and refine the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720505"/>
          </a:xfrm>
        </p:spPr>
        <p:txBody>
          <a:bodyPr/>
          <a:lstStyle/>
          <a:p>
            <a:r>
              <a:rPr dirty="0"/>
              <a:t>BDD Scenario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1842868"/>
            <a:ext cx="6858000" cy="3414932"/>
          </a:xfrm>
        </p:spPr>
        <p:txBody>
          <a:bodyPr>
            <a:normAutofit/>
          </a:bodyPr>
          <a:lstStyle/>
          <a:p>
            <a:endParaRPr dirty="0"/>
          </a:p>
          <a:p>
            <a:pPr algn="just"/>
            <a:r>
              <a:rPr sz="2800" dirty="0"/>
              <a:t>Scenario: Online shopping cart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Given a user adds an item to the cart.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When they click the checkout button.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Then they should be redirected to the payment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903385"/>
          </a:xfrm>
        </p:spPr>
        <p:txBody>
          <a:bodyPr/>
          <a:lstStyle/>
          <a:p>
            <a:r>
              <a:rPr dirty="0"/>
              <a:t>Advantages of BDD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2222695"/>
            <a:ext cx="6858000" cy="3263705"/>
          </a:xfrm>
        </p:spPr>
        <p:txBody>
          <a:bodyPr/>
          <a:lstStyle/>
          <a:p>
            <a:endParaRPr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 dirty="0"/>
              <a:t>Improves communication between teams.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 dirty="0"/>
              <a:t>Enhances test clarity using plain English.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 dirty="0"/>
              <a:t>Helps validate business logic early.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477837"/>
          </a:xfrm>
        </p:spPr>
        <p:txBody>
          <a:bodyPr>
            <a:normAutofit fontScale="90000"/>
          </a:bodyPr>
          <a:lstStyle/>
          <a:p>
            <a:r>
              <a:rPr dirty="0"/>
              <a:t>What is Pair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1842868"/>
            <a:ext cx="6858000" cy="3414932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Two programmers work together on the same task.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Driver: Writes the code.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Navigator: Reviews and guides the driver.</a:t>
            </a:r>
            <a:endParaRPr lang="en-GB" sz="2400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164D599-4C4C-403D-A714-C3377EA90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66" y="3332649"/>
            <a:ext cx="7329267" cy="25578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852EC5-9A0F-4A3C-8415-F7C9F45DC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734572"/>
          </a:xfrm>
        </p:spPr>
        <p:txBody>
          <a:bodyPr/>
          <a:lstStyle/>
          <a:p>
            <a:r>
              <a:rPr lang="en-GB" dirty="0"/>
              <a:t>Pair Programming</a:t>
            </a:r>
            <a:endParaRPr lang="en-IN" dirty="0"/>
          </a:p>
        </p:txBody>
      </p:sp>
      <p:pic>
        <p:nvPicPr>
          <p:cNvPr id="4" name="Online Media 3">
            <a:hlinkClick r:id="" action="ppaction://media"/>
            <a:extLst>
              <a:ext uri="{FF2B5EF4-FFF2-40B4-BE49-F238E27FC236}">
                <a16:creationId xmlns:a16="http://schemas.microsoft.com/office/drawing/2014/main" xmlns="" id="{1A9B5F18-E71E-4BD0-8223-C7EC93514721}"/>
              </a:ext>
            </a:extLst>
          </p:cNvPr>
          <p:cNvPicPr>
            <a:picLocks noGrp="1" noRot="1" noChangeAspect="1"/>
          </p:cNvPicPr>
          <p:nvPr>
            <p:ph idx="4294967295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36895" y="2193131"/>
            <a:ext cx="6299200" cy="447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09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818979"/>
          </a:xfrm>
        </p:spPr>
        <p:txBody>
          <a:bodyPr/>
          <a:lstStyle/>
          <a:p>
            <a:r>
              <a:rPr dirty="0"/>
              <a:t>Types of Pair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1941342"/>
            <a:ext cx="6858000" cy="3316458"/>
          </a:xfrm>
        </p:spPr>
        <p:txBody>
          <a:bodyPr/>
          <a:lstStyle/>
          <a:p>
            <a:endParaRPr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Driver-Navigator: One codes, the other reviews.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Ping-Pong: Alternating roles after each test.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Unstructured Pairing: Both work dynamically.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734572"/>
          </a:xfrm>
        </p:spPr>
        <p:txBody>
          <a:bodyPr/>
          <a:lstStyle/>
          <a:p>
            <a:r>
              <a:rPr dirty="0"/>
              <a:t>Pair Programming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2039815"/>
            <a:ext cx="6858000" cy="3217985"/>
          </a:xfrm>
        </p:spPr>
        <p:txBody>
          <a:bodyPr>
            <a:normAutofit/>
          </a:bodyPr>
          <a:lstStyle/>
          <a:p>
            <a:endParaRPr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Scenario: Developing a search feature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Driver writes the function for product search.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Navigator ensures edge cases are considered.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Both switch roles to refine the logic.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1086265"/>
          </a:xfrm>
        </p:spPr>
        <p:txBody>
          <a:bodyPr>
            <a:normAutofit fontScale="90000"/>
          </a:bodyPr>
          <a:lstStyle/>
          <a:p>
            <a:r>
              <a:rPr dirty="0"/>
              <a:t>Advantages of Pair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2335237"/>
            <a:ext cx="6858000" cy="2922563"/>
          </a:xfrm>
        </p:spPr>
        <p:txBody>
          <a:bodyPr/>
          <a:lstStyle/>
          <a:p>
            <a:endParaRPr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Reduces errors through continuous review.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Enhances knowledge sharing among developers.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400" dirty="0"/>
              <a:t>Improves code design and efficiency.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1100332"/>
          </a:xfrm>
        </p:spPr>
        <p:txBody>
          <a:bodyPr>
            <a:normAutofit fontScale="90000"/>
          </a:bodyPr>
          <a:lstStyle/>
          <a:p>
            <a:r>
              <a:rPr dirty="0"/>
              <a:t>What is Continuous Integration?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2475914"/>
            <a:ext cx="6858000" cy="2781886"/>
          </a:xfrm>
        </p:spPr>
        <p:txBody>
          <a:bodyPr/>
          <a:lstStyle/>
          <a:p>
            <a:endParaRPr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Merging code changes frequently into a shared repository.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Automated testing ensures stability.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Enables faster feedback and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xmlns="" id="{BEC2E4E6-99DF-4A1D-B7B9-6B3D7684F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D6A2B8D3-6F21-481E-B7B7-5D13FD6BD79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00088" y="1600200"/>
            <a:ext cx="7300912" cy="4191000"/>
          </a:xfrm>
        </p:spPr>
      </p:pic>
    </p:spTree>
    <p:extLst>
      <p:ext uri="{BB962C8B-B14F-4D97-AF65-F5344CB8AC3E}">
        <p14:creationId xmlns:p14="http://schemas.microsoft.com/office/powerpoint/2010/main" val="3755683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748640"/>
          </a:xfrm>
        </p:spPr>
        <p:txBody>
          <a:bodyPr/>
          <a:lstStyle/>
          <a:p>
            <a:r>
              <a:rPr dirty="0"/>
              <a:t>CI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2011680"/>
            <a:ext cx="6858000" cy="3246120"/>
          </a:xfrm>
        </p:spPr>
        <p:txBody>
          <a:bodyPr>
            <a:normAutofit/>
          </a:bodyPr>
          <a:lstStyle/>
          <a:p>
            <a:endParaRPr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Developers commit changes to version control (Git).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Automated tests are triggered.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Build verification ensures no conflicts.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Deployment happens if all checks pass.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833046"/>
          </a:xfrm>
        </p:spPr>
        <p:txBody>
          <a:bodyPr/>
          <a:lstStyle/>
          <a:p>
            <a:r>
              <a:rPr dirty="0"/>
              <a:t>CI Scenario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2096086"/>
            <a:ext cx="6858000" cy="3161714"/>
          </a:xfrm>
        </p:spPr>
        <p:txBody>
          <a:bodyPr>
            <a:normAutofit/>
          </a:bodyPr>
          <a:lstStyle/>
          <a:p>
            <a:pPr algn="just"/>
            <a:r>
              <a:rPr sz="2800" dirty="0"/>
              <a:t>Scenario: Working on a mobile app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Developer A adds a new feature.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Developer B fixes a bug.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CI runs automated tests before merging.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If a test fails, CI notifies developers.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847114"/>
          </a:xfrm>
        </p:spPr>
        <p:txBody>
          <a:bodyPr/>
          <a:lstStyle/>
          <a:p>
            <a:r>
              <a:rPr dirty="0"/>
              <a:t>Advantages of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1969477"/>
            <a:ext cx="6858000" cy="3288323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Catches bugs early.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Reduces integration conflicts.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Speeds up deployment cycles.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706437"/>
          </a:xfrm>
        </p:spPr>
        <p:txBody>
          <a:bodyPr>
            <a:normAutofit fontScale="90000"/>
          </a:bodyPr>
          <a:lstStyle/>
          <a:p>
            <a:r>
              <a:rPr dirty="0"/>
              <a:t>TDD vs. BDD vs.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1828800"/>
            <a:ext cx="6858000" cy="3429000"/>
          </a:xfrm>
        </p:spPr>
        <p:txBody>
          <a:bodyPr>
            <a:normAutofit/>
          </a:bodyPr>
          <a:lstStyle/>
          <a:p>
            <a:endParaRPr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TDD: Focuses on writing tests before coding.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BDD: Uses Given-When-Then format for behavior.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 dirty="0"/>
              <a:t>CI: Automates integration and deployment.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847114"/>
          </a:xfrm>
        </p:spPr>
        <p:txBody>
          <a:bodyPr/>
          <a:lstStyle/>
          <a:p>
            <a:r>
              <a:rPr dirty="0"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43000" y="1871003"/>
            <a:ext cx="6858000" cy="3386797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 dirty="0"/>
              <a:t>TDD: Keep tests small and modular.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 dirty="0"/>
              <a:t>BDD: Write clear scenarios with business inputs.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 dirty="0"/>
              <a:t>Pair Programming: Rotate roles frequently.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 dirty="0"/>
              <a:t>CI: Automate tests and deploy regularly.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E25DB724-AFEF-43B2-B168-051994C44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992100"/>
              </p:ext>
            </p:extLst>
          </p:nvPr>
        </p:nvGraphicFramePr>
        <p:xfrm>
          <a:off x="182880" y="759655"/>
          <a:ext cx="8609430" cy="57677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1886">
                  <a:extLst>
                    <a:ext uri="{9D8B030D-6E8A-4147-A177-3AD203B41FA5}">
                      <a16:colId xmlns:a16="http://schemas.microsoft.com/office/drawing/2014/main" xmlns="" val="343155623"/>
                    </a:ext>
                  </a:extLst>
                </a:gridCol>
                <a:gridCol w="1721886">
                  <a:extLst>
                    <a:ext uri="{9D8B030D-6E8A-4147-A177-3AD203B41FA5}">
                      <a16:colId xmlns:a16="http://schemas.microsoft.com/office/drawing/2014/main" xmlns="" val="1976871361"/>
                    </a:ext>
                  </a:extLst>
                </a:gridCol>
                <a:gridCol w="1721886">
                  <a:extLst>
                    <a:ext uri="{9D8B030D-6E8A-4147-A177-3AD203B41FA5}">
                      <a16:colId xmlns:a16="http://schemas.microsoft.com/office/drawing/2014/main" xmlns="" val="1470579046"/>
                    </a:ext>
                  </a:extLst>
                </a:gridCol>
                <a:gridCol w="1721886">
                  <a:extLst>
                    <a:ext uri="{9D8B030D-6E8A-4147-A177-3AD203B41FA5}">
                      <a16:colId xmlns:a16="http://schemas.microsoft.com/office/drawing/2014/main" xmlns="" val="1290110331"/>
                    </a:ext>
                  </a:extLst>
                </a:gridCol>
                <a:gridCol w="1721886">
                  <a:extLst>
                    <a:ext uri="{9D8B030D-6E8A-4147-A177-3AD203B41FA5}">
                      <a16:colId xmlns:a16="http://schemas.microsoft.com/office/drawing/2014/main" xmlns="" val="3996603591"/>
                    </a:ext>
                  </a:extLst>
                </a:gridCol>
              </a:tblGrid>
              <a:tr h="9612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Feature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Test-Driven Development (TDD)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Behavior-Driven Development (BDD)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Pair Programming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Continuous Integration (CI)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10067015"/>
                  </a:ext>
                </a:extLst>
              </a:tr>
              <a:tr h="1206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Definition</a:t>
                      </a:r>
                      <a:endParaRPr lang="en-IN" sz="16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Write tests before writing code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Define behavior before writing tests/code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Two developers work together on the same code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Frequently merge and test code in a shared repository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11867390"/>
                  </a:ext>
                </a:extLst>
              </a:tr>
              <a:tr h="9612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Main Focus</a:t>
                      </a:r>
                      <a:endParaRPr lang="en-IN" sz="16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Ensuring code correctness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Ensuring expected behavior of the system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Collaboration &amp; knowledge sharing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Automating integration and testing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88334856"/>
                  </a:ext>
                </a:extLst>
              </a:tr>
              <a:tr h="9612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Key Principle</a:t>
                      </a:r>
                      <a:endParaRPr lang="en-IN" sz="16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Red-Green-Refactor cycle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Given-When-Then (Gherkin Syntax)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Driver &amp; Navigator roles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Frequent code integration and automated testing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9466310"/>
                  </a:ext>
                </a:extLst>
              </a:tr>
              <a:tr h="715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Testing Style</a:t>
                      </a:r>
                      <a:endParaRPr lang="en-IN" sz="16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Unit Testing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Acceptance Testing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Manual review of each other's code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Automated testing pipelines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58512284"/>
                  </a:ext>
                </a:extLst>
              </a:tr>
              <a:tr h="9612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Who Uses It?</a:t>
                      </a:r>
                      <a:endParaRPr lang="en-IN" sz="16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Developers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Developers, Testers, Business Analysts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Developers working in teams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Development &amp; DevOps teams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303" marR="4230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38207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071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C314BFA0-CF6E-4BDA-98BA-A86AC3351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3327083"/>
              </p:ext>
            </p:extLst>
          </p:nvPr>
        </p:nvGraphicFramePr>
        <p:xfrm>
          <a:off x="168812" y="928468"/>
          <a:ext cx="8848575" cy="56294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9715">
                  <a:extLst>
                    <a:ext uri="{9D8B030D-6E8A-4147-A177-3AD203B41FA5}">
                      <a16:colId xmlns:a16="http://schemas.microsoft.com/office/drawing/2014/main" xmlns="" val="2445033217"/>
                    </a:ext>
                  </a:extLst>
                </a:gridCol>
                <a:gridCol w="1769715">
                  <a:extLst>
                    <a:ext uri="{9D8B030D-6E8A-4147-A177-3AD203B41FA5}">
                      <a16:colId xmlns:a16="http://schemas.microsoft.com/office/drawing/2014/main" xmlns="" val="1296361195"/>
                    </a:ext>
                  </a:extLst>
                </a:gridCol>
                <a:gridCol w="1769715">
                  <a:extLst>
                    <a:ext uri="{9D8B030D-6E8A-4147-A177-3AD203B41FA5}">
                      <a16:colId xmlns:a16="http://schemas.microsoft.com/office/drawing/2014/main" xmlns="" val="3284157986"/>
                    </a:ext>
                  </a:extLst>
                </a:gridCol>
                <a:gridCol w="1769715">
                  <a:extLst>
                    <a:ext uri="{9D8B030D-6E8A-4147-A177-3AD203B41FA5}">
                      <a16:colId xmlns:a16="http://schemas.microsoft.com/office/drawing/2014/main" xmlns="" val="4193526798"/>
                    </a:ext>
                  </a:extLst>
                </a:gridCol>
                <a:gridCol w="1769715">
                  <a:extLst>
                    <a:ext uri="{9D8B030D-6E8A-4147-A177-3AD203B41FA5}">
                      <a16:colId xmlns:a16="http://schemas.microsoft.com/office/drawing/2014/main" xmlns="" val="3829719498"/>
                    </a:ext>
                  </a:extLst>
                </a:gridCol>
              </a:tblGrid>
              <a:tr h="8771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Test-Driven Development (TDD)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Behavior-Driven Development (BDD)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Pair Programming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Continuous Integration (CI)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16640717"/>
                  </a:ext>
                </a:extLst>
              </a:tr>
              <a:tr h="8771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Example Scenario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Writing a function to validate user input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Checking if a user can successfully log in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Two developers working on a new feature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A developer commits code; CI system tests it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32328092"/>
                  </a:ext>
                </a:extLst>
              </a:tr>
              <a:tr h="14747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Collaboration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Mainly developer-driven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Encourages collaboration between developers, testers, and stakeholders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Direct collaboration between two developers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Automates collaboration through integration tools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38299357"/>
                  </a:ext>
                </a:extLst>
              </a:tr>
              <a:tr h="8771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Tools Used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JUnit, NUnit, PyTest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Cucumber, SpecFlow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No specific tool, uses IDEs like VS Code, IntelliJ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Jenkins, GitHub Actions, GitLab CI/CD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18359853"/>
                  </a:ext>
                </a:extLst>
              </a:tr>
              <a:tr h="8771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Advantage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Improves code quality &amp; test coverage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Ensures alignment with business goals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Reduces coding errors &amp; improves learning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Detects bugs early, speeds up deployment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90829989"/>
                  </a:ext>
                </a:extLst>
              </a:tr>
              <a:tr h="6461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Best For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Code reliability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Feature behavior validation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Agile development teams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Continuous software delivery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896" marR="65896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52019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177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D57AAB-1F17-4A3A-B344-0A546090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D6D12F55-04DF-44C7-808A-1F491A8EBA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00637"/>
            <a:ext cx="646734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first step in Test-Driven Development (TDD)?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Write the code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Write the test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Refactor the code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Deploy the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TDD, what is the purpose of the "Red" phase?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Writing failing tests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Writing the implementation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Refactoring the code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Running the production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testing approach is commonly used in TDD?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Unit Testing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System Testing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Performance Testing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Usability Testing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876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56E91659-E887-4F0C-B572-BCF8CF8D54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462138"/>
            <a:ext cx="678502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is a key benefit of TDD?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Reduces test cases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Reduces debugging time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Eliminates the need for testing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Slows down development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happens if a test fails in TDD?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The code is refactored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The test is rewritten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The code is modified until the test passes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The test is removed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GB" sz="1800" b="1" dirty="0"/>
              <a:t>Which language format is commonly used in BDD?</a:t>
            </a:r>
            <a:r>
              <a:rPr lang="en-GB" sz="1800" dirty="0"/>
              <a:t/>
            </a:r>
            <a:br>
              <a:rPr lang="en-GB" sz="1800" dirty="0"/>
            </a:br>
            <a:r>
              <a:rPr lang="en-GB" sz="1800" dirty="0"/>
              <a:t>a) JavaScript</a:t>
            </a:r>
            <a:br>
              <a:rPr lang="en-GB" sz="1800" dirty="0"/>
            </a:br>
            <a:r>
              <a:rPr lang="en-GB" sz="1800" dirty="0"/>
              <a:t>b) Python</a:t>
            </a:r>
            <a:br>
              <a:rPr lang="en-GB" sz="1800" dirty="0"/>
            </a:br>
            <a:r>
              <a:rPr lang="en-GB" sz="1800" dirty="0"/>
              <a:t>c) Gherkin</a:t>
            </a:r>
            <a:br>
              <a:rPr lang="en-GB" sz="1800" dirty="0"/>
            </a:br>
            <a:r>
              <a:rPr lang="en-GB" sz="1800" dirty="0"/>
              <a:t>d) SQL</a:t>
            </a:r>
            <a:br>
              <a:rPr lang="en-GB" sz="1800" dirty="0"/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891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881ABBE5-144F-4E83-9CA8-7CB2643B27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046638"/>
            <a:ext cx="655820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key focus of BDD?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Testing system architecture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Checking low-level implementation details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Aligning development with business requirements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Improving system security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is a BDD tool?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JUnit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Cucumber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Selenium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Mocha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BDD, which syntax structure is commonly used?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If-Else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Given-When-Then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Switch-Case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Try-Catch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BDD is an extension of which development methodology?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TDD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Waterfall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DevOps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Scrum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242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1BBABB6C-1CFD-484B-8774-42B2D575E4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000472"/>
            <a:ext cx="7215437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Pair programming consists of how many developers working together?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1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2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3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More than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two roles in pair programming?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Coder &amp; Tester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Driver &amp; Navigator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Manager &amp; Developer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Programmer &amp; Debugger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is NOT a benefit of pair programming?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Improved code quality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Faster debugging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Reduced communication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Knowledge sharing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writes the code in pair programming?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The Navigator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The Driver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Both Driver and Navigator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None of them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865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7E19B0-518F-45ED-8EFB-1EB304FB2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86265"/>
            <a:ext cx="7886700" cy="5290698"/>
          </a:xfrm>
        </p:spPr>
        <p:txBody>
          <a:bodyPr>
            <a:normAutofit/>
          </a:bodyPr>
          <a:lstStyle/>
          <a:p>
            <a:r>
              <a:rPr lang="en-GB" b="1" dirty="0"/>
              <a:t>Which software development methodology often uses pair programming?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a) Agile</a:t>
            </a:r>
            <a:br>
              <a:rPr lang="en-GB" dirty="0"/>
            </a:br>
            <a:r>
              <a:rPr lang="en-GB" dirty="0"/>
              <a:t>b) Waterfall</a:t>
            </a:r>
            <a:br>
              <a:rPr lang="en-GB" dirty="0"/>
            </a:br>
            <a:r>
              <a:rPr lang="en-GB" dirty="0"/>
              <a:t>c) Spiral</a:t>
            </a:r>
            <a:br>
              <a:rPr lang="en-GB" dirty="0"/>
            </a:br>
            <a:r>
              <a:rPr lang="en-GB" dirty="0"/>
              <a:t>d) V-Model</a:t>
            </a:r>
          </a:p>
          <a:p>
            <a:pPr marL="0" indent="0">
              <a:buNone/>
            </a:pPr>
            <a:r>
              <a:rPr lang="en-GB" b="1" dirty="0"/>
              <a:t>What is the goal of Continuous Integration (CI)?</a:t>
            </a:r>
          </a:p>
          <a:p>
            <a:pPr marL="457200" indent="-457200">
              <a:buAutoNum type="alphaLcParenR"/>
            </a:pPr>
            <a:r>
              <a:rPr lang="en-GB" dirty="0"/>
              <a:t>Deploying code once per year</a:t>
            </a:r>
          </a:p>
          <a:p>
            <a:pPr marL="457200" indent="-457200">
              <a:buAutoNum type="alphaLcParenR"/>
            </a:pPr>
            <a:r>
              <a:rPr lang="en-GB" dirty="0"/>
              <a:t>Merging code changes frequently and testing automatically</a:t>
            </a:r>
          </a:p>
          <a:p>
            <a:pPr marL="457200" indent="-457200">
              <a:buAutoNum type="alphaLcParenR"/>
            </a:pPr>
            <a:r>
              <a:rPr lang="en-GB" dirty="0"/>
              <a:t> Writing more code manually</a:t>
            </a:r>
          </a:p>
          <a:p>
            <a:pPr marL="457200" indent="-457200">
              <a:buAutoNum type="alphaLcParenR"/>
            </a:pPr>
            <a:r>
              <a:rPr lang="en-GB" dirty="0"/>
              <a:t>Reducing the need for testing </a:t>
            </a:r>
          </a:p>
          <a:p>
            <a:pPr marL="0" indent="0">
              <a:buNone/>
            </a:pPr>
            <a:r>
              <a:rPr lang="en-GB" b="1" dirty="0"/>
              <a:t>Which of the following is a popular Continuous Integration tool?</a:t>
            </a:r>
          </a:p>
          <a:p>
            <a:pPr marL="0" indent="0">
              <a:buNone/>
            </a:pPr>
            <a:r>
              <a:rPr lang="en-GB" dirty="0"/>
              <a:t>a) Jenkins  b) Photoshop   c) Eclipse  d) Notepad++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9236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0C74BDA7-24E8-43FD-9663-DE4BADCBBD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462138"/>
            <a:ext cx="676659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main advantage of CI?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Delays bug detection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Reduces integration issues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Eliminates testing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Requires less automation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phase is Continuous Integration mostly involved in?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Development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Testing and Deployment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Requirement Gathering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purpose of an automated build in CI?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To speed up code writing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To ensure code is always in a deployable state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To eliminate human testers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To delay releases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7859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846</Words>
  <Application>Microsoft Office PowerPoint</Application>
  <PresentationFormat>On-screen Show (4:3)</PresentationFormat>
  <Paragraphs>184</Paragraphs>
  <Slides>29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</vt:lpstr>
      <vt:lpstr>MS Mincho</vt:lpstr>
      <vt:lpstr>Times New Roman</vt:lpstr>
      <vt:lpstr>1_Office Theme</vt:lpstr>
      <vt:lpstr>UNIT-4</vt:lpstr>
      <vt:lpstr>What is TDD?</vt:lpstr>
      <vt:lpstr>TDD Workflow</vt:lpstr>
      <vt:lpstr>TDD Scenario Example</vt:lpstr>
      <vt:lpstr>Advantages of TDD</vt:lpstr>
      <vt:lpstr>What is BDD?</vt:lpstr>
      <vt:lpstr>BDD Workflow</vt:lpstr>
      <vt:lpstr>BDD Scenario Example</vt:lpstr>
      <vt:lpstr>Advantages of BDD</vt:lpstr>
      <vt:lpstr>What is Pair Programming?</vt:lpstr>
      <vt:lpstr>Pair Programming</vt:lpstr>
      <vt:lpstr>Types of Pair Programming</vt:lpstr>
      <vt:lpstr>Pair Programming Scenario</vt:lpstr>
      <vt:lpstr>Advantages of Pair Programming</vt:lpstr>
      <vt:lpstr>What is Continuous Integration?</vt:lpstr>
      <vt:lpstr>PowerPoint Presentation</vt:lpstr>
      <vt:lpstr>CI Workflow</vt:lpstr>
      <vt:lpstr>CI Scenario Example</vt:lpstr>
      <vt:lpstr>Advantages of CI</vt:lpstr>
      <vt:lpstr>TDD vs. BDD vs. CI</vt:lpstr>
      <vt:lpstr>Best Practices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Best Practices</dc:title>
  <dc:subject/>
  <dc:creator>harnoor singh</dc:creator>
  <cp:keywords/>
  <dc:description>generated using python-pptx</dc:description>
  <cp:lastModifiedBy>harnoor singh</cp:lastModifiedBy>
  <cp:revision>16</cp:revision>
  <dcterms:created xsi:type="dcterms:W3CDTF">2013-01-27T09:14:16Z</dcterms:created>
  <dcterms:modified xsi:type="dcterms:W3CDTF">2025-07-24T06:34:33Z</dcterms:modified>
  <cp:category/>
</cp:coreProperties>
</file>