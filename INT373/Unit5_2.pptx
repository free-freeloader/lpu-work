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0" r:id="rId2"/>
    <p:sldId id="281" r:id="rId3"/>
    <p:sldId id="256" r:id="rId4"/>
    <p:sldId id="284" r:id="rId5"/>
    <p:sldId id="282" r:id="rId6"/>
    <p:sldId id="257" r:id="rId7"/>
    <p:sldId id="283" r:id="rId8"/>
    <p:sldId id="258" r:id="rId9"/>
    <p:sldId id="259" r:id="rId10"/>
    <p:sldId id="260" r:id="rId11"/>
    <p:sldId id="264" r:id="rId12"/>
    <p:sldId id="268" r:id="rId13"/>
    <p:sldId id="272" r:id="rId14"/>
    <p:sldId id="276" r:id="rId15"/>
    <p:sldId id="278" r:id="rId16"/>
    <p:sldId id="27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385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22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717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58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66776"/>
            <a:ext cx="78867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31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93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304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987425"/>
            <a:ext cx="2949178" cy="106997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1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987425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52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76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34291"/>
            <a:ext cx="1971675" cy="54426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34291"/>
            <a:ext cx="5800725" cy="54426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054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813302"/>
            <a:ext cx="7886700" cy="877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19A9B-B0B4-4E41-AABB-F84B96A08CA1}" type="datetimeFigureOut">
              <a:rPr lang="en-IN" smtClean="0"/>
              <a:pPr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2" y="136525"/>
            <a:ext cx="1350150" cy="6282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813" t="24036" r="8813" b="24036"/>
          <a:stretch>
            <a:fillRect/>
          </a:stretch>
        </p:blipFill>
        <p:spPr>
          <a:xfrm>
            <a:off x="7905519" y="44450"/>
            <a:ext cx="1219662" cy="768852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58709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9857E312-CF5E-48F3-8AF7-580FFA3C4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31C156B-B5A4-426F-A616-D112C8C1D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800" u="sng" dirty="0"/>
              <a:t>Unit -5</a:t>
            </a:r>
          </a:p>
          <a:p>
            <a:pPr marL="0" indent="0" algn="ctr">
              <a:buNone/>
            </a:pPr>
            <a:r>
              <a:rPr lang="en-GB" sz="4800" dirty="0"/>
              <a:t> </a:t>
            </a:r>
            <a:br>
              <a:rPr lang="en-GB" sz="4800" dirty="0"/>
            </a:br>
            <a:r>
              <a:rPr lang="en-GB" sz="4800" dirty="0"/>
              <a:t>Part-2 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15828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D5592A9-7D29-470C-800F-2B5112ABB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Table of Contents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1A81D25-4087-49C0-BD7A-FD6099960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Challenges in Scaling Agile in Enterprises</a:t>
            </a:r>
          </a:p>
          <a:p>
            <a:r>
              <a:rPr lang="en-GB" sz="2800"/>
              <a:t>Creating </a:t>
            </a:r>
            <a:r>
              <a:rPr lang="en-GB" sz="2800" dirty="0"/>
              <a:t>and Managing Scaled Agile Setup Using Tools</a:t>
            </a:r>
          </a:p>
          <a:p>
            <a:r>
              <a:rPr lang="en-GB" sz="2800" dirty="0"/>
              <a:t>Group Projects Simulating Distributed Agile Teams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9829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Challenges in Scaling Agile in Enterprises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Resistance to change and organizational inertia</a:t>
            </a:r>
          </a:p>
          <a:p>
            <a:r>
              <a:rPr sz="2800" dirty="0"/>
              <a:t>Misalignment between teams and leadership</a:t>
            </a:r>
          </a:p>
          <a:p>
            <a:r>
              <a:rPr sz="2800" dirty="0"/>
              <a:t>Difficulty in maintaining Agile principles at scale</a:t>
            </a:r>
          </a:p>
          <a:p>
            <a:r>
              <a:rPr sz="2800" dirty="0"/>
              <a:t>Tooling and integration complexity across large teams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Navigating Organizational Challenges in Agile Implemen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0219"/>
            <a:ext cx="9144000" cy="6373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07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op 6 Challenges in Agile Transformation and Ways to Overcome Th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997527"/>
            <a:ext cx="9071552" cy="557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155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Best Practices for Scaling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Strong executive support and cultural alignment</a:t>
            </a:r>
          </a:p>
          <a:p>
            <a:r>
              <a:rPr sz="2800" dirty="0"/>
              <a:t>Clear communication and transparency</a:t>
            </a:r>
          </a:p>
          <a:p>
            <a:r>
              <a:rPr sz="2800" dirty="0"/>
              <a:t>Investment in training and Agile coaching</a:t>
            </a:r>
          </a:p>
          <a:p>
            <a:r>
              <a:rPr sz="2800" dirty="0"/>
              <a:t>Use of consistent metrics and KPIs across teams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0416BB7-9261-4756-A0FF-5A4466494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72" y="1026942"/>
            <a:ext cx="8018585" cy="545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0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Creating and Managing Scaled Agile Setup Using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Utilize tools like Jira, Rally, or Azure DevOps for managing backlogs and workflows</a:t>
            </a:r>
          </a:p>
          <a:p>
            <a:r>
              <a:rPr sz="2400" dirty="0"/>
              <a:t>Implement integrated CI/CD pipelines for continuous delivery</a:t>
            </a:r>
          </a:p>
          <a:p>
            <a:r>
              <a:rPr sz="2400" dirty="0"/>
              <a:t>Leverage dashboards for real-time progress tracking and reporting</a:t>
            </a:r>
          </a:p>
          <a:p>
            <a:r>
              <a:rPr sz="2400" dirty="0"/>
              <a:t>Maintain centralized documentation and knowledge sharing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Group Projects Simulating Distributed Agile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Assign cross-functional roles in virtual teams</a:t>
            </a:r>
          </a:p>
          <a:p>
            <a:r>
              <a:rPr sz="2800" dirty="0"/>
              <a:t>Conduct sprint planning, reviews, and retrospectives remotely</a:t>
            </a:r>
          </a:p>
          <a:p>
            <a:r>
              <a:rPr sz="2800" dirty="0"/>
              <a:t>Use communication tools like Zoom, Slack, and Trello for collaboration</a:t>
            </a:r>
          </a:p>
          <a:p>
            <a:r>
              <a:rPr sz="2800" dirty="0"/>
              <a:t>Emphasize the importance of time zone coordination and clear documentation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MCQ</a:t>
            </a:r>
            <a:r>
              <a:rPr lang="en-GB" dirty="0"/>
              <a:t>’s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1175"/>
            <a:ext cx="7886700" cy="46857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dirty="0"/>
              <a:t>1. </a:t>
            </a:r>
            <a:r>
              <a:rPr sz="2000" dirty="0"/>
              <a:t>Which of the following is a common challenge when scaling Agile?</a:t>
            </a:r>
          </a:p>
          <a:p>
            <a:pPr marL="0" indent="0">
              <a:buNone/>
            </a:pPr>
            <a:r>
              <a:rPr sz="2000" dirty="0"/>
              <a:t>A. Too many sprints</a:t>
            </a:r>
            <a:r>
              <a:rPr lang="en-GB" sz="2000" dirty="0"/>
              <a:t> 			</a:t>
            </a:r>
            <a:r>
              <a:rPr sz="2000" dirty="0"/>
              <a:t>B. Organizational resistance</a:t>
            </a:r>
          </a:p>
          <a:p>
            <a:pPr marL="0" indent="0">
              <a:buNone/>
            </a:pPr>
            <a:r>
              <a:rPr sz="2000" dirty="0"/>
              <a:t>C. Lack of developers</a:t>
            </a:r>
            <a:r>
              <a:rPr lang="en-GB" sz="2000" dirty="0"/>
              <a:t>		</a:t>
            </a:r>
            <a:r>
              <a:rPr sz="2000" dirty="0"/>
              <a:t>D. Frequent deployments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2. What supports successful Agile scaling?</a:t>
            </a:r>
          </a:p>
          <a:p>
            <a:pPr marL="0" indent="0">
              <a:buNone/>
            </a:pPr>
            <a:r>
              <a:rPr lang="en-GB" sz="2000" dirty="0"/>
              <a:t>A. Executive support			B. Isolated teams</a:t>
            </a:r>
          </a:p>
          <a:p>
            <a:pPr marL="0" indent="0">
              <a:buNone/>
            </a:pPr>
            <a:r>
              <a:rPr lang="en-GB" sz="2000" dirty="0"/>
              <a:t>C. Waterfall </a:t>
            </a:r>
            <a:r>
              <a:rPr lang="en-GB" sz="2000" dirty="0" err="1"/>
              <a:t>fallback</a:t>
            </a:r>
            <a:r>
              <a:rPr lang="en-GB" sz="2000" dirty="0"/>
              <a:t>			D. Ad hoc planning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3. A key tool for managing scaled Agile backlogs is:</a:t>
            </a:r>
          </a:p>
          <a:p>
            <a:pPr marL="457200" indent="-457200">
              <a:buAutoNum type="alphaUcPeriod"/>
            </a:pPr>
            <a:r>
              <a:rPr lang="en-GB" sz="2000" dirty="0"/>
              <a:t>Excel		B. Notepad		C. Jira		D. PowerPoint</a:t>
            </a:r>
          </a:p>
          <a:p>
            <a:pPr marL="0" indent="0">
              <a:buNone/>
            </a:pPr>
            <a:r>
              <a:rPr lang="en-GB" sz="2000" dirty="0"/>
              <a:t>4. Distributed Agile teams benefit most from:</a:t>
            </a:r>
          </a:p>
          <a:p>
            <a:pPr marL="0" indent="0">
              <a:buNone/>
            </a:pPr>
            <a:r>
              <a:rPr lang="en-GB" sz="2000" dirty="0"/>
              <a:t>A. Same time zones			B. No stand-ups</a:t>
            </a:r>
          </a:p>
          <a:p>
            <a:pPr marL="0" indent="0">
              <a:buNone/>
            </a:pPr>
            <a:r>
              <a:rPr lang="en-GB" sz="2000" dirty="0"/>
              <a:t>C. Waterfall phases			D. Effective communication tools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29994"/>
            <a:ext cx="7886700" cy="53469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200" dirty="0"/>
              <a:t>5. </a:t>
            </a:r>
            <a:r>
              <a:rPr sz="2200" dirty="0"/>
              <a:t>Agile coaching helps with:</a:t>
            </a:r>
          </a:p>
          <a:p>
            <a:pPr marL="0" indent="0">
              <a:buNone/>
            </a:pPr>
            <a:r>
              <a:rPr sz="2200" dirty="0"/>
              <a:t>A. Increasing code</a:t>
            </a:r>
            <a:r>
              <a:rPr lang="en-GB" sz="2200" dirty="0"/>
              <a:t>			</a:t>
            </a:r>
            <a:r>
              <a:rPr sz="2200" dirty="0"/>
              <a:t>B. Cultural transformation</a:t>
            </a:r>
          </a:p>
          <a:p>
            <a:pPr marL="0" indent="0">
              <a:buNone/>
            </a:pPr>
            <a:r>
              <a:rPr sz="2200" dirty="0"/>
              <a:t>C. Speeding up sprints</a:t>
            </a:r>
            <a:r>
              <a:rPr lang="en-GB" sz="2200" dirty="0"/>
              <a:t>		</a:t>
            </a:r>
            <a:r>
              <a:rPr sz="2200" dirty="0"/>
              <a:t>D. Replacing Scrum Masters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6</a:t>
            </a:r>
            <a:r>
              <a:rPr lang="en-IN" sz="2200" dirty="0"/>
              <a:t>. </a:t>
            </a:r>
            <a:r>
              <a:rPr lang="en-GB" sz="2200" dirty="0"/>
              <a:t>Which tool is used for Agile project tracking?</a:t>
            </a:r>
          </a:p>
          <a:p>
            <a:pPr marL="0" indent="0">
              <a:buNone/>
            </a:pPr>
            <a:r>
              <a:rPr lang="en-GB" sz="2200" dirty="0"/>
              <a:t>A. Azure DevOps			B. Paint</a:t>
            </a:r>
          </a:p>
          <a:p>
            <a:pPr marL="0" indent="0">
              <a:buNone/>
            </a:pPr>
            <a:r>
              <a:rPr lang="en-GB" sz="2200" dirty="0"/>
              <a:t>C. Outlook				D. Skype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7. Why are retrospectives important in group Agile projects?</a:t>
            </a:r>
          </a:p>
          <a:p>
            <a:pPr marL="0" indent="0">
              <a:buNone/>
            </a:pPr>
            <a:r>
              <a:rPr lang="en-GB" sz="2200" dirty="0"/>
              <a:t>A. Celebrations			B. Documentation</a:t>
            </a:r>
          </a:p>
          <a:p>
            <a:pPr marL="0" indent="0">
              <a:buNone/>
            </a:pPr>
            <a:r>
              <a:rPr lang="en-GB" sz="2200" dirty="0"/>
              <a:t>C. Continuous improvement	D. Planning only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8.Best way to manage time zones in distributed Agile teams?</a:t>
            </a:r>
          </a:p>
          <a:p>
            <a:pPr marL="0" indent="0">
              <a:buNone/>
            </a:pPr>
            <a:r>
              <a:rPr lang="en-GB" sz="2200" dirty="0"/>
              <a:t>A. Late night meetings		B. Ignore time zones</a:t>
            </a:r>
          </a:p>
          <a:p>
            <a:pPr marL="0" indent="0">
              <a:buNone/>
            </a:pPr>
            <a:r>
              <a:rPr lang="en-GB" sz="2200" dirty="0"/>
              <a:t>C. Random calls			D. Asynchronous updates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87791"/>
            <a:ext cx="7886700" cy="53891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9. </a:t>
            </a:r>
            <a:r>
              <a:rPr dirty="0"/>
              <a:t>Centralized documentation helps in:</a:t>
            </a:r>
          </a:p>
          <a:p>
            <a:pPr marL="0" indent="0">
              <a:buNone/>
            </a:pPr>
            <a:r>
              <a:rPr dirty="0"/>
              <a:t>A. Shared understanding</a:t>
            </a:r>
            <a:r>
              <a:rPr lang="en-GB" dirty="0"/>
              <a:t>			</a:t>
            </a:r>
            <a:r>
              <a:rPr dirty="0"/>
              <a:t>B. Isolation</a:t>
            </a:r>
          </a:p>
          <a:p>
            <a:pPr marL="0" indent="0">
              <a:buNone/>
            </a:pPr>
            <a:r>
              <a:rPr dirty="0"/>
              <a:t>C. Micromanagement</a:t>
            </a:r>
            <a:r>
              <a:rPr lang="en-GB" dirty="0"/>
              <a:t>			</a:t>
            </a:r>
            <a:r>
              <a:rPr dirty="0"/>
              <a:t>D. Waterfall conversion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10. Dashboards provide:</a:t>
            </a:r>
          </a:p>
          <a:p>
            <a:pPr marL="0" indent="0">
              <a:buNone/>
            </a:pPr>
            <a:r>
              <a:rPr lang="en-GB" dirty="0"/>
              <a:t>A. Code snippets				B. Real-time tracking</a:t>
            </a:r>
          </a:p>
          <a:p>
            <a:pPr marL="0" indent="0">
              <a:buNone/>
            </a:pPr>
            <a:r>
              <a:rPr lang="en-GB" dirty="0"/>
              <a:t>C. Email alerts				D. Test cases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11.Why simulate Agile teams in group projects?</a:t>
            </a:r>
          </a:p>
          <a:p>
            <a:pPr marL="0" indent="0">
              <a:buNone/>
            </a:pPr>
            <a:r>
              <a:rPr lang="en-GB" dirty="0"/>
              <a:t>A. Fun						B. Theory learning</a:t>
            </a:r>
          </a:p>
          <a:p>
            <a:pPr marL="0" indent="0">
              <a:buNone/>
            </a:pPr>
            <a:r>
              <a:rPr lang="en-GB" dirty="0"/>
              <a:t>C. Practical experience			D. Exam practice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12.</a:t>
            </a:r>
            <a:r>
              <a:rPr lang="en-IN" sz="2000" dirty="0"/>
              <a:t> </a:t>
            </a:r>
            <a:r>
              <a:rPr lang="en-GB" sz="2000" dirty="0"/>
              <a:t>Which tool is used for Agile project tracking?</a:t>
            </a:r>
          </a:p>
          <a:p>
            <a:pPr marL="0" indent="0">
              <a:buNone/>
            </a:pPr>
            <a:r>
              <a:rPr lang="en-GB" sz="2000" dirty="0"/>
              <a:t>A. Azure DevOps			B. Paint</a:t>
            </a:r>
          </a:p>
          <a:p>
            <a:pPr marL="0" indent="0">
              <a:buNone/>
            </a:pPr>
            <a:r>
              <a:rPr lang="en-GB" sz="2000" dirty="0"/>
              <a:t>C. Outlook				D. Skype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58128"/>
            <a:ext cx="7886700" cy="56270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13.</a:t>
            </a:r>
            <a:r>
              <a:rPr dirty="0"/>
              <a:t>A common mistake in scaling Agile is:</a:t>
            </a:r>
          </a:p>
          <a:p>
            <a:pPr marL="0" indent="0">
              <a:buNone/>
            </a:pPr>
            <a:r>
              <a:rPr dirty="0"/>
              <a:t>A. Planning sprints</a:t>
            </a:r>
            <a:r>
              <a:rPr lang="en-GB" dirty="0"/>
              <a:t>				</a:t>
            </a:r>
            <a:r>
              <a:rPr dirty="0"/>
              <a:t>B. Ignoring feedback loops</a:t>
            </a:r>
          </a:p>
          <a:p>
            <a:pPr marL="0" indent="0">
              <a:buNone/>
            </a:pPr>
            <a:r>
              <a:rPr dirty="0"/>
              <a:t>C. Backlog refinement</a:t>
            </a:r>
            <a:r>
              <a:rPr lang="en-GB" dirty="0"/>
              <a:t>			</a:t>
            </a:r>
            <a:r>
              <a:rPr dirty="0"/>
              <a:t>D. Writing user stories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</a:t>
            </a:r>
            <a:r>
              <a:rPr lang="en-IN" dirty="0"/>
              <a:t>4.</a:t>
            </a:r>
            <a:r>
              <a:rPr lang="en-GB" dirty="0"/>
              <a:t> Effective collaboration tools include:</a:t>
            </a:r>
          </a:p>
          <a:p>
            <a:pPr marL="0" indent="0">
              <a:buNone/>
            </a:pPr>
            <a:r>
              <a:rPr lang="en-GB" dirty="0"/>
              <a:t>A. Slack					B. MS Paint</a:t>
            </a:r>
          </a:p>
          <a:p>
            <a:pPr marL="0" indent="0">
              <a:buNone/>
            </a:pPr>
            <a:r>
              <a:rPr lang="en-GB" dirty="0"/>
              <a:t>C. Antivirus					D. Calculator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15. What enhances transparency in Agile?</a:t>
            </a:r>
          </a:p>
          <a:p>
            <a:pPr marL="0" indent="0">
              <a:buNone/>
            </a:pPr>
            <a:r>
              <a:rPr lang="en-GB" dirty="0"/>
              <a:t>A. Private notes				B. Long emails</a:t>
            </a:r>
          </a:p>
          <a:p>
            <a:pPr marL="0" indent="0">
              <a:buNone/>
            </a:pPr>
            <a:r>
              <a:rPr lang="en-GB" dirty="0"/>
              <a:t>C. Siloed teams				D. Daily stand-ups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16.One benefit of Agile group simulations is:</a:t>
            </a:r>
          </a:p>
          <a:p>
            <a:pPr marL="0" indent="0">
              <a:buNone/>
            </a:pPr>
            <a:r>
              <a:rPr lang="en-GB" dirty="0"/>
              <a:t>A. Coding only				B. Team collaboration skills</a:t>
            </a:r>
          </a:p>
          <a:p>
            <a:pPr marL="0" indent="0">
              <a:buNone/>
            </a:pPr>
            <a:r>
              <a:rPr lang="en-GB" dirty="0"/>
              <a:t>C. Solving puzzles				D. Avoiding deadlines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914400"/>
            <a:ext cx="8177725" cy="5824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17. </a:t>
            </a:r>
            <a:r>
              <a:rPr dirty="0"/>
              <a:t>KPIs in Agile scaling help with:</a:t>
            </a:r>
          </a:p>
          <a:p>
            <a:pPr marL="0" indent="0">
              <a:buNone/>
            </a:pPr>
            <a:r>
              <a:rPr dirty="0"/>
              <a:t>A. Measuring progress</a:t>
            </a:r>
            <a:r>
              <a:rPr lang="en-GB" dirty="0"/>
              <a:t>		</a:t>
            </a:r>
            <a:r>
              <a:rPr dirty="0"/>
              <a:t>B. Firing employees</a:t>
            </a:r>
          </a:p>
          <a:p>
            <a:pPr marL="0" indent="0">
              <a:buNone/>
            </a:pPr>
            <a:r>
              <a:rPr dirty="0"/>
              <a:t>C. Adding roles</a:t>
            </a:r>
            <a:r>
              <a:rPr lang="en-GB" dirty="0"/>
              <a:t>			</a:t>
            </a:r>
            <a:r>
              <a:rPr dirty="0"/>
              <a:t>D. Ignoring velocity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</a:t>
            </a:r>
            <a:r>
              <a:rPr lang="en-IN" dirty="0"/>
              <a:t>8. </a:t>
            </a:r>
            <a:r>
              <a:rPr lang="en-GB" dirty="0"/>
              <a:t>Which phase focuses on reflection and improvement?</a:t>
            </a:r>
          </a:p>
          <a:p>
            <a:pPr marL="457200" indent="-457200">
              <a:buAutoNum type="alphaUcPeriod"/>
            </a:pPr>
            <a:r>
              <a:rPr lang="en-GB" dirty="0"/>
              <a:t>Planning	B. Stand-up		C. Retrospective	D. Review</a:t>
            </a:r>
          </a:p>
          <a:p>
            <a:pPr marL="457200" indent="-457200">
              <a:buAutoNum type="alphaUcPeriod"/>
            </a:pPr>
            <a:endParaRPr lang="en-GB" dirty="0"/>
          </a:p>
          <a:p>
            <a:pPr marL="0" indent="0">
              <a:buNone/>
            </a:pPr>
            <a:r>
              <a:rPr lang="en-GB" dirty="0"/>
              <a:t>19 Tool to visualize workflow in Agile:</a:t>
            </a:r>
          </a:p>
          <a:p>
            <a:pPr marL="0" indent="0">
              <a:buNone/>
            </a:pPr>
            <a:r>
              <a:rPr lang="en-GB" dirty="0"/>
              <a:t>A. Roadmap				B. Gantt Chart</a:t>
            </a:r>
          </a:p>
          <a:p>
            <a:pPr marL="0" indent="0">
              <a:buNone/>
            </a:pPr>
            <a:r>
              <a:rPr lang="en-GB" dirty="0"/>
              <a:t>C. Flowchart				D. Kanban Board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20. Which factor helps sustain Agile culture?</a:t>
            </a:r>
          </a:p>
          <a:p>
            <a:pPr marL="0" indent="0">
              <a:buNone/>
            </a:pPr>
            <a:r>
              <a:rPr lang="en-GB" dirty="0"/>
              <a:t>A. Top-down command		B. Leadership buy-in</a:t>
            </a:r>
          </a:p>
          <a:p>
            <a:pPr marL="0" indent="0">
              <a:buNone/>
            </a:pPr>
            <a:r>
              <a:rPr lang="en-GB" dirty="0"/>
              <a:t>C. Strict rules			D. Code-only focus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Tool to visualize workflow in Agile:</a:t>
            </a:r>
          </a:p>
          <a:p>
            <a:r>
              <a:rPr dirty="0"/>
              <a:t>A. Roadmap</a:t>
            </a:r>
          </a:p>
          <a:p>
            <a:r>
              <a:rPr dirty="0"/>
              <a:t>B. Gantt Chart</a:t>
            </a:r>
          </a:p>
          <a:p>
            <a:r>
              <a:rPr dirty="0"/>
              <a:t>C. Flowchart</a:t>
            </a:r>
          </a:p>
          <a:p>
            <a:r>
              <a:rPr dirty="0"/>
              <a:t>D. Kanban Board</a:t>
            </a:r>
          </a:p>
          <a:p>
            <a:endParaRPr dirty="0"/>
          </a:p>
          <a:p>
            <a:r>
              <a:rPr dirty="0"/>
              <a:t>Correct Answer: D. Kanban 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factor helps sustain Agile culture?</a:t>
            </a:r>
          </a:p>
          <a:p>
            <a:r>
              <a:rPr dirty="0"/>
              <a:t>A. Top-down command</a:t>
            </a:r>
          </a:p>
          <a:p>
            <a:r>
              <a:rPr dirty="0"/>
              <a:t>B. Leadership buy-in</a:t>
            </a:r>
          </a:p>
          <a:p>
            <a:r>
              <a:rPr dirty="0"/>
              <a:t>C. Strict rules</a:t>
            </a:r>
          </a:p>
          <a:p>
            <a:r>
              <a:rPr dirty="0"/>
              <a:t>D. Code-only focus</a:t>
            </a:r>
          </a:p>
          <a:p>
            <a:endParaRPr dirty="0"/>
          </a:p>
          <a:p>
            <a:r>
              <a:rPr dirty="0"/>
              <a:t>Correct Answer: B. Leadership buy-in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305</Words>
  <Application>Microsoft Office PowerPoint</Application>
  <PresentationFormat>On-screen Show (4:3)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1_Office Theme</vt:lpstr>
      <vt:lpstr>PowerPoint Presentation</vt:lpstr>
      <vt:lpstr>Table of Contents</vt:lpstr>
      <vt:lpstr>Challenges in Scaling Agile in Enterprises</vt:lpstr>
      <vt:lpstr>PowerPoint Presentation</vt:lpstr>
      <vt:lpstr>PowerPoint Presentation</vt:lpstr>
      <vt:lpstr>Best Practices for Scaling Agile</vt:lpstr>
      <vt:lpstr>PowerPoint Presentation</vt:lpstr>
      <vt:lpstr>Creating and Managing Scaled Agile Setup Using Tools</vt:lpstr>
      <vt:lpstr>Group Projects Simulating Distributed Agile Teams</vt:lpstr>
      <vt:lpstr>MCQ’s</vt:lpstr>
      <vt:lpstr>PowerPoint Presentation</vt:lpstr>
      <vt:lpstr>PowerPoint Presentation</vt:lpstr>
      <vt:lpstr>PowerPoint Presentation</vt:lpstr>
      <vt:lpstr>PowerPoint Presentation</vt:lpstr>
      <vt:lpstr>MCQ 19</vt:lpstr>
      <vt:lpstr>MCQ 20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harnoor singh</dc:creator>
  <cp:keywords/>
  <dc:description>generated using python-pptx</dc:description>
  <cp:lastModifiedBy>harnoor singh</cp:lastModifiedBy>
  <cp:revision>10</cp:revision>
  <dcterms:created xsi:type="dcterms:W3CDTF">2013-01-27T09:14:16Z</dcterms:created>
  <dcterms:modified xsi:type="dcterms:W3CDTF">2025-12-03T08:24:30Z</dcterms:modified>
  <cp:category/>
</cp:coreProperties>
</file>