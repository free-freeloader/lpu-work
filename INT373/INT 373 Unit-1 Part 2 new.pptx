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docProps/custom.xml" ContentType="application/vnd.openxmlformats-officedocument.custom-properties+xml"/>
  <Default Extension="wdp" ContentType="image/vnd.ms-photo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8" r:id="rId3"/>
    <p:sldId id="275" r:id="rId4"/>
    <p:sldId id="291" r:id="rId5"/>
    <p:sldId id="277" r:id="rId6"/>
    <p:sldId id="276" r:id="rId7"/>
    <p:sldId id="282" r:id="rId8"/>
    <p:sldId id="286" r:id="rId9"/>
    <p:sldId id="288" r:id="rId10"/>
    <p:sldId id="289" r:id="rId11"/>
    <p:sldId id="281" r:id="rId12"/>
    <p:sldId id="290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=""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="" xmlns:p14="http://schemas.microsoft.com/office/powerpoint/2010/main">
          <a:srgbClr val="FF0000"/>
        </p14:laserClr>
      </p:ext>
      <p:ext uri="{2FDB2607-1784-4EEB-B798-7EB5836EED8A}">
        <p14:showMediaCtrls xmlns="" xmlns:p14="http://schemas.microsoft.com/office/powerpoint/2010/main" val="1"/>
      </p:ext>
    </p:extLst>
  </p:showPr>
  <p:extLst>
    <p:ext uri="{E76CE94A-603C-4142-B9EB-6D1370010A27}">
      <p14:discardImageEditData xmlns="" xmlns:p14="http://schemas.microsoft.com/office/powerpoint/2010/main" val="0"/>
    </p:ext>
    <p:ext uri="{D31A062A-798A-4329-ABDD-BBA856620510}">
      <p14:defaultImageDpi xmlns="" xmlns:p14="http://schemas.microsoft.com/office/powerpoint/2010/main" val="220"/>
    </p:ext>
    <p:ext uri="{FD5EFAAD-0ECE-453E-9831-46B23BE46B34}">
      <p15:chartTrackingRefBased xmlns=""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 horzBarState="maximized">
    <p:restoredLeft sz="15000" autoAdjust="0"/>
    <p:restoredTop sz="94660"/>
  </p:normalViewPr>
  <p:slideViewPr>
    <p:cSldViewPr snapToGrid="0">
      <p:cViewPr>
        <p:scale>
          <a:sx n="60" d="100"/>
          <a:sy n="60" d="100"/>
        </p:scale>
        <p:origin x="-1104" y="-37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D19A9B-B0B4-4E41-AABB-F84B96A08CA1}" type="datetimeFigureOut">
              <a:rPr lang="en-IN" smtClean="0"/>
              <a:pPr/>
              <a:t>24-01-2025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E389FA-E27B-4EB9-A4BE-1BC29A5612BD}" type="slidenum">
              <a:rPr lang="en-IN" smtClean="0"/>
              <a:pPr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D19A9B-B0B4-4E41-AABB-F84B96A08CA1}" type="datetimeFigureOut">
              <a:rPr lang="en-IN" smtClean="0"/>
              <a:pPr/>
              <a:t>24-01-2025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E389FA-E27B-4EB9-A4BE-1BC29A5612BD}" type="slidenum">
              <a:rPr lang="en-IN" smtClean="0"/>
              <a:pPr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D19A9B-B0B4-4E41-AABB-F84B96A08CA1}" type="datetimeFigureOut">
              <a:rPr lang="en-IN" smtClean="0"/>
              <a:pPr/>
              <a:t>24-01-2025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E389FA-E27B-4EB9-A4BE-1BC29A5612BD}" type="slidenum">
              <a:rPr lang="en-IN" smtClean="0"/>
              <a:pPr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D19A9B-B0B4-4E41-AABB-F84B96A08CA1}" type="datetimeFigureOut">
              <a:rPr lang="en-IN" smtClean="0"/>
              <a:pPr/>
              <a:t>24-01-2025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E389FA-E27B-4EB9-A4BE-1BC29A5612BD}" type="slidenum">
              <a:rPr lang="en-IN" smtClean="0"/>
              <a:pPr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866776"/>
            <a:ext cx="10515600" cy="82391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D19A9B-B0B4-4E41-AABB-F84B96A08CA1}" type="datetimeFigureOut">
              <a:rPr lang="en-IN" smtClean="0"/>
              <a:pPr/>
              <a:t>24-01-2025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E389FA-E27B-4EB9-A4BE-1BC29A5612BD}" type="slidenum">
              <a:rPr lang="en-IN" smtClean="0"/>
              <a:pPr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D19A9B-B0B4-4E41-AABB-F84B96A08CA1}" type="datetimeFigureOut">
              <a:rPr lang="en-IN" smtClean="0"/>
              <a:pPr/>
              <a:t>24-01-2025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E389FA-E27B-4EB9-A4BE-1BC29A5612BD}" type="slidenum">
              <a:rPr lang="en-IN" smtClean="0"/>
              <a:pPr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D19A9B-B0B4-4E41-AABB-F84B96A08CA1}" type="datetimeFigureOut">
              <a:rPr lang="en-IN" smtClean="0"/>
              <a:pPr/>
              <a:t>24-01-2025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E389FA-E27B-4EB9-A4BE-1BC29A5612BD}" type="slidenum">
              <a:rPr lang="en-IN" smtClean="0"/>
              <a:pPr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987425"/>
            <a:ext cx="3932237" cy="106997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D19A9B-B0B4-4E41-AABB-F84B96A08CA1}" type="datetimeFigureOut">
              <a:rPr lang="en-IN" smtClean="0"/>
              <a:pPr/>
              <a:t>24-01-2025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E389FA-E27B-4EB9-A4BE-1BC29A5612BD}" type="slidenum">
              <a:rPr lang="en-IN" smtClean="0"/>
              <a:pPr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987424"/>
            <a:ext cx="3932237" cy="106997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D19A9B-B0B4-4E41-AABB-F84B96A08CA1}" type="datetimeFigureOut">
              <a:rPr lang="en-IN" smtClean="0"/>
              <a:pPr/>
              <a:t>24-01-2025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E389FA-E27B-4EB9-A4BE-1BC29A5612BD}" type="slidenum">
              <a:rPr lang="en-IN" smtClean="0"/>
              <a:pPr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D19A9B-B0B4-4E41-AABB-F84B96A08CA1}" type="datetimeFigureOut">
              <a:rPr lang="en-IN" smtClean="0"/>
              <a:pPr/>
              <a:t>24-01-2025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E389FA-E27B-4EB9-A4BE-1BC29A5612BD}" type="slidenum">
              <a:rPr lang="en-IN" smtClean="0"/>
              <a:pPr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734291"/>
            <a:ext cx="2628900" cy="5442672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734291"/>
            <a:ext cx="7734300" cy="5442672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D19A9B-B0B4-4E41-AABB-F84B96A08CA1}" type="datetimeFigureOut">
              <a:rPr lang="en-IN" smtClean="0"/>
              <a:pPr/>
              <a:t>24-01-2025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E389FA-E27B-4EB9-A4BE-1BC29A5612BD}" type="slidenum">
              <a:rPr lang="en-IN" smtClean="0"/>
              <a:pPr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microsoft.com/office/2007/relationships/hdphoto" Target="../media/hdphoto1.wdp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813302"/>
            <a:ext cx="10515600" cy="87738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3D19A9B-B0B4-4E41-AABB-F84B96A08CA1}" type="datetimeFigureOut">
              <a:rPr lang="en-IN" smtClean="0"/>
              <a:pPr/>
              <a:t>24-01-2025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EE389FA-E27B-4EB9-A4BE-1BC29A5612BD}" type="slidenum">
              <a:rPr lang="en-IN" smtClean="0"/>
              <a:pPr/>
              <a:t>‹#›</a:t>
            </a:fld>
            <a:endParaRPr lang="en-IN"/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13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5816" y="136525"/>
            <a:ext cx="1800200" cy="628214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 userDrawn="1"/>
        </p:nvPicPr>
        <p:blipFill rotWithShape="1">
          <a:blip r:embed="rId14">
            <a:extLst>
              <a:ext uri="{BEBA8EAE-BF5A-486C-A8C5-ECC9F3942E4B}">
                <a14:imgProps xmlns="" xmlns:a14="http://schemas.microsoft.com/office/drawing/2010/main">
                  <a14:imgLayer r:embed="rId15">
                    <a14:imgEffect>
                      <a14:brightnessContrast bright="20000" contrast="-40000"/>
                    </a14:imgEffect>
                    <a14:imgEffect>
                      <a14:sharpenSoften amount="-25000"/>
                    </a14:imgEffect>
                  </a14:imgLayer>
                </a14:imgProps>
              </a:ext>
              <a:ext uri="{28A0092B-C50C-407E-A947-70E740481C1C}">
                <a14:useLocalDpi xmlns="" xmlns:a14="http://schemas.microsoft.com/office/drawing/2010/main" val="0"/>
              </a:ext>
            </a:extLst>
          </a:blip>
          <a:srcRect l="8813" t="24036" r="8813" b="24036"/>
          <a:stretch>
            <a:fillRect/>
          </a:stretch>
        </p:blipFill>
        <p:spPr>
          <a:xfrm>
            <a:off x="10540692" y="44450"/>
            <a:ext cx="1626216" cy="768852"/>
          </a:xfrm>
          <a:prstGeom prst="rect">
            <a:avLst/>
          </a:prstGeom>
          <a:ln>
            <a:noFill/>
          </a:ln>
          <a:effectLst/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41025"/>
            <a:ext cx="9144000" cy="1294266"/>
          </a:xfrm>
        </p:spPr>
        <p:txBody>
          <a:bodyPr/>
          <a:lstStyle/>
          <a:p>
            <a:r>
              <a:rPr lang="en-IN" b="1" dirty="0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UNIT-1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013788"/>
            <a:ext cx="9144000" cy="2244012"/>
          </a:xfrm>
        </p:spPr>
        <p:txBody>
          <a:bodyPr>
            <a:normAutofit/>
          </a:bodyPr>
          <a:lstStyle/>
          <a:p>
            <a:r>
              <a:rPr lang="en-US" sz="4400" b="1" dirty="0" smtClean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Overview of Scrum framework</a:t>
            </a:r>
            <a:endParaRPr lang="en-IN" sz="4400" b="1" dirty="0">
              <a:solidFill>
                <a:schemeClr val="accent1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Table of Content</a:t>
            </a:r>
            <a:endParaRPr lang="en-IN" b="1" dirty="0">
              <a:solidFill>
                <a:schemeClr val="accent5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5609492" cy="4351338"/>
          </a:xfrm>
        </p:spPr>
        <p:txBody>
          <a:bodyPr>
            <a:normAutofit/>
          </a:bodyPr>
          <a:lstStyle/>
          <a:p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What is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Scrum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framework.</a:t>
            </a:r>
          </a:p>
          <a:p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Scrum Framework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Overview.</a:t>
            </a:r>
          </a:p>
          <a:p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Scrum Methodology</a:t>
            </a:r>
          </a:p>
          <a:p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Scrum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Roles,Event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and Artifacts.</a:t>
            </a:r>
            <a:endParaRPr lang="en-US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Setting Up a Scrum Board and Backlog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by using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tools like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Jira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or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Trello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r>
              <a:rPr lang="en-I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Daily </a:t>
            </a:r>
            <a:r>
              <a:rPr lang="en-IN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Standup</a:t>
            </a:r>
            <a:r>
              <a:rPr lang="en-I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(Daily Scrum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)</a:t>
            </a:r>
          </a:p>
          <a:p>
            <a:r>
              <a:rPr lang="en-I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Sprint  </a:t>
            </a:r>
            <a:r>
              <a:rPr lang="en-I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en-I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etrospective</a:t>
            </a:r>
            <a:endParaRPr lang="en-IN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endParaRPr lang="en-IN" sz="3200" b="0" i="0" u="none" strike="noStrike" baseline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0283" y="638491"/>
            <a:ext cx="10515600" cy="877386"/>
          </a:xfrm>
        </p:spPr>
        <p:txBody>
          <a:bodyPr/>
          <a:lstStyle/>
          <a:p>
            <a:pPr algn="ctr"/>
            <a:r>
              <a:rPr lang="en-US" b="1" dirty="0" smtClean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What is Scrum </a:t>
            </a:r>
            <a:r>
              <a:rPr lang="en-US" b="1" dirty="0" smtClean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framework</a:t>
            </a:r>
            <a:endParaRPr lang="en-US" b="1" dirty="0" smtClean="0">
              <a:solidFill>
                <a:schemeClr val="accent1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Content Placeholder 2"/>
          <p:cNvSpPr txBox="1">
            <a:spLocks/>
          </p:cNvSpPr>
          <p:nvPr/>
        </p:nvSpPr>
        <p:spPr>
          <a:xfrm>
            <a:off x="381000" y="1667102"/>
            <a:ext cx="6366642" cy="493864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itchFamily="34" charset="0"/>
              <a:buChar char="•"/>
            </a:pPr>
            <a:r>
              <a:rPr lang="en-US" alt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6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 Scrum framework </a:t>
            </a:r>
            <a:r>
              <a:rPr lang="en-US" altLang="en-US" sz="2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is an Agile methodology that helps teams work collaboratively on complex projects.</a:t>
            </a:r>
          </a:p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itchFamily="34" charset="0"/>
              <a:buChar char="•"/>
            </a:pPr>
            <a:r>
              <a:rPr lang="en-US" altLang="en-US" sz="26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Primarily software development</a:t>
            </a:r>
            <a:r>
              <a:rPr lang="en-US" altLang="en-US" sz="2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</a:p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2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but it can be applied to other fields.</a:t>
            </a:r>
          </a:p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itchFamily="34" charset="0"/>
              <a:buChar char="•"/>
            </a:pPr>
            <a:r>
              <a:rPr lang="en-US" altLang="en-US" sz="2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6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Scrum promotes </a:t>
            </a:r>
            <a:r>
              <a:rPr lang="en-US" altLang="en-US" sz="2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iterative progress,    adaptability, and continuous</a:t>
            </a:r>
          </a:p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2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improvement.</a:t>
            </a:r>
            <a:endParaRPr lang="en-US" altLang="en-US" sz="26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9" name="Picture 8" descr="sr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80993" y="1528297"/>
            <a:ext cx="6214513" cy="4986755"/>
          </a:xfrm>
          <a:prstGeom prst="rect">
            <a:avLst/>
          </a:prstGeom>
        </p:spPr>
      </p:pic>
    </p:spTree>
    <p:extLst>
      <p:ext uri="{BB962C8B-B14F-4D97-AF65-F5344CB8AC3E}">
        <p14:creationId xmlns="" xmlns:p14="http://schemas.microsoft.com/office/powerpoint/2010/main" val="18972218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0283" y="528132"/>
            <a:ext cx="10515600" cy="877386"/>
          </a:xfrm>
        </p:spPr>
        <p:txBody>
          <a:bodyPr/>
          <a:lstStyle/>
          <a:p>
            <a:pPr algn="ctr"/>
            <a:r>
              <a:rPr lang="en-US" b="1" dirty="0" smtClean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Scrum</a:t>
            </a:r>
            <a:r>
              <a:rPr lang="en-US" dirty="0" smtClean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smtClean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Methodology</a:t>
            </a:r>
          </a:p>
        </p:txBody>
      </p:sp>
      <p:pic>
        <p:nvPicPr>
          <p:cNvPr id="10" name="Picture 9" descr="sr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9350" y="1279542"/>
            <a:ext cx="9642543" cy="5578458"/>
          </a:xfrm>
          <a:prstGeom prst="rect">
            <a:avLst/>
          </a:prstGeom>
        </p:spPr>
      </p:pic>
    </p:spTree>
    <p:extLst>
      <p:ext uri="{BB962C8B-B14F-4D97-AF65-F5344CB8AC3E}">
        <p14:creationId xmlns="" xmlns:p14="http://schemas.microsoft.com/office/powerpoint/2010/main" val="18972218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930166"/>
            <a:ext cx="10515600" cy="617280"/>
          </a:xfrm>
        </p:spPr>
        <p:txBody>
          <a:bodyPr>
            <a:normAutofit fontScale="90000"/>
          </a:bodyPr>
          <a:lstStyle/>
          <a:p>
            <a:pPr algn="ctr"/>
            <a:r>
              <a:rPr lang="en-US" b="1" dirty="0" smtClean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US" b="1" dirty="0" smtClean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b="1" dirty="0">
              <a:solidFill>
                <a:schemeClr val="accent1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01261" y="1556744"/>
            <a:ext cx="5515708" cy="3879240"/>
          </a:xfrm>
        </p:spPr>
        <p:txBody>
          <a:bodyPr>
            <a:normAutofit fontScale="92500" lnSpcReduction="10000"/>
          </a:bodyPr>
          <a:lstStyle/>
          <a:p>
            <a:pPr algn="just"/>
            <a:r>
              <a:rPr lang="en-US" sz="3200" b="1" dirty="0" smtClean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Roles</a:t>
            </a:r>
            <a:r>
              <a:rPr lang="en-US" sz="3200" b="1" dirty="0" smtClean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en-US" b="1" dirty="0" smtClean="0">
              <a:solidFill>
                <a:schemeClr val="accent1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Product Owner: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Manages the product backlog and ensures the team works on the most valuable features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/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Scrum </a:t>
            </a:r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Master: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Facilitates Scrum events, removes blockers, and ensures the team follows Scrum practices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/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Development </a:t>
            </a:r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Team: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The group of professionals working to complete the product increment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953207" y="728852"/>
            <a:ext cx="940190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 smtClean="0">
                <a:solidFill>
                  <a:schemeClr val="accent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Scrum is organized into roles, events, and artifacts</a:t>
            </a:r>
            <a:r>
              <a:rPr lang="en-US" sz="3200" b="1" dirty="0" smtClean="0">
                <a:solidFill>
                  <a:schemeClr val="accent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:-</a:t>
            </a:r>
            <a:endParaRPr lang="en-US" sz="3200" b="1" dirty="0">
              <a:solidFill>
                <a:schemeClr val="accent1">
                  <a:lumMod val="50000"/>
                </a:schemeClr>
              </a:solidFill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7" name="Picture 6" descr="sr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42690" y="1453106"/>
            <a:ext cx="5649310" cy="5270887"/>
          </a:xfrm>
          <a:prstGeom prst="rect">
            <a:avLst/>
          </a:prstGeom>
        </p:spPr>
      </p:pic>
    </p:spTree>
    <p:extLst>
      <p:ext uri="{BB962C8B-B14F-4D97-AF65-F5344CB8AC3E}">
        <p14:creationId xmlns="" xmlns:p14="http://schemas.microsoft.com/office/powerpoint/2010/main" val="7958742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Content Placeholder 2"/>
          <p:cNvSpPr>
            <a:spLocks noGrp="1"/>
          </p:cNvSpPr>
          <p:nvPr>
            <p:ph idx="1"/>
          </p:nvPr>
        </p:nvSpPr>
        <p:spPr>
          <a:xfrm>
            <a:off x="270641" y="890954"/>
            <a:ext cx="6492766" cy="5967046"/>
          </a:xfrm>
        </p:spPr>
        <p:txBody>
          <a:bodyPr>
            <a:normAutofit/>
          </a:bodyPr>
          <a:lstStyle/>
          <a:p>
            <a:pPr algn="just">
              <a:buNone/>
            </a:pPr>
            <a:r>
              <a:rPr lang="en-US" sz="2600" b="1" dirty="0" smtClean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Events:</a:t>
            </a:r>
          </a:p>
          <a:p>
            <a:pPr algn="just"/>
            <a:r>
              <a:rPr lang="en-US" sz="26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Sprint: </a:t>
            </a:r>
            <a:r>
              <a:rPr lang="en-US" sz="2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 time-boxed </a:t>
            </a:r>
            <a:r>
              <a:rPr lang="en-US" sz="2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iteration (usually 2–4 weeks</a:t>
            </a:r>
            <a:r>
              <a:rPr lang="en-US" sz="2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).</a:t>
            </a:r>
            <a:endParaRPr lang="en-US" sz="26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26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Sprint Planning:</a:t>
            </a:r>
            <a:r>
              <a:rPr lang="en-US" sz="2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A meeting to plan the tasks for the upcoming sprint.</a:t>
            </a:r>
          </a:p>
          <a:p>
            <a:pPr algn="just"/>
            <a:r>
              <a:rPr lang="en-US" sz="26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Daily Standup (Daily Scrum):</a:t>
            </a:r>
            <a:r>
              <a:rPr lang="en-US" sz="2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A quick meeting (usually 15 minutes</a:t>
            </a:r>
            <a:r>
              <a:rPr lang="en-US" sz="2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en-US" sz="26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26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Sprint Review:</a:t>
            </a:r>
            <a:r>
              <a:rPr lang="en-US" sz="2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A meeting to demonstrate the work completed during the sprint.</a:t>
            </a:r>
          </a:p>
          <a:p>
            <a:pPr algn="just"/>
            <a:r>
              <a:rPr lang="en-US" sz="26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Sprint Retrospective:</a:t>
            </a:r>
            <a:r>
              <a:rPr lang="en-US" sz="2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A meeting to reflect on the sprint and identify improvements for the next one.</a:t>
            </a:r>
          </a:p>
        </p:txBody>
      </p:sp>
      <p:pic>
        <p:nvPicPr>
          <p:cNvPr id="8194" name="Picture 2" descr="https://upload.wikimedia.org/wikipedia/commons/e/ee/Scrum_Agile_events.pn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6997810" y="1365194"/>
            <a:ext cx="5194190" cy="3853192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="" xmlns:p14="http://schemas.microsoft.com/office/powerpoint/2010/main" val="11165160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70540" y="1004356"/>
            <a:ext cx="5630259" cy="5349552"/>
          </a:xfrm>
        </p:spPr>
        <p:txBody>
          <a:bodyPr>
            <a:normAutofit/>
          </a:bodyPr>
          <a:lstStyle/>
          <a:p>
            <a:pPr algn="just">
              <a:buNone/>
            </a:pPr>
            <a:r>
              <a:rPr lang="en-US" b="1" dirty="0" smtClean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Artifacts:</a:t>
            </a:r>
          </a:p>
          <a:p>
            <a:pPr algn="just"/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Product Backlog: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 list of all desired work on the product, maintained by the Product Owner.</a:t>
            </a:r>
          </a:p>
          <a:p>
            <a:pPr algn="just"/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Sprint Backlog: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A subset of the product backlog, consisting of tasks that the team commits to complete in the sprint.</a:t>
            </a:r>
          </a:p>
          <a:p>
            <a:pPr algn="just"/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Increment: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The working product increment that is delivered at the end of each sprint.</a:t>
            </a:r>
          </a:p>
          <a:p>
            <a:pPr algn="just"/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8" name="Picture 7" descr="3-scrum-artifacts-product-sprint-backlog-increment-dod-600x5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74220" y="1033462"/>
            <a:ext cx="5138245" cy="4791075"/>
          </a:xfrm>
          <a:prstGeom prst="rect">
            <a:avLst/>
          </a:prstGeom>
        </p:spPr>
      </p:pic>
    </p:spTree>
    <p:extLst>
      <p:ext uri="{BB962C8B-B14F-4D97-AF65-F5344CB8AC3E}">
        <p14:creationId xmlns="" xmlns:p14="http://schemas.microsoft.com/office/powerpoint/2010/main" val="38015828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48558" y="788276"/>
            <a:ext cx="10515600" cy="961696"/>
          </a:xfrm>
        </p:spPr>
        <p:txBody>
          <a:bodyPr>
            <a:normAutofit fontScale="90000"/>
          </a:bodyPr>
          <a:lstStyle/>
          <a:p>
            <a:pPr algn="ctr"/>
            <a:r>
              <a:rPr lang="en-US" b="1" dirty="0" smtClean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Setting Up a Scrum Board and Backlog </a:t>
            </a:r>
            <a:r>
              <a:rPr lang="en-US" b="1" dirty="0" smtClean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US" b="1" dirty="0" smtClean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b="1" dirty="0">
              <a:solidFill>
                <a:schemeClr val="accent1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8" name="Picture 7" descr="sr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4338" y="1562456"/>
            <a:ext cx="11319640" cy="4759515"/>
          </a:xfrm>
          <a:prstGeom prst="rect">
            <a:avLst/>
          </a:prstGeom>
        </p:spPr>
      </p:pic>
    </p:spTree>
    <p:extLst>
      <p:ext uri="{BB962C8B-B14F-4D97-AF65-F5344CB8AC3E}">
        <p14:creationId xmlns="" xmlns:p14="http://schemas.microsoft.com/office/powerpoint/2010/main" val="17097026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/>
            <a:r>
              <a:rPr lang="en-US" b="1" dirty="0" smtClean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Tools like </a:t>
            </a:r>
            <a:r>
              <a:rPr lang="en-US" b="1" dirty="0" err="1" smtClean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Jira</a:t>
            </a:r>
            <a:r>
              <a:rPr lang="en-US" b="1" dirty="0" smtClean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or </a:t>
            </a:r>
            <a:r>
              <a:rPr lang="en-US" b="1" dirty="0" err="1" smtClean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Trello</a:t>
            </a:r>
            <a:r>
              <a:rPr lang="en-US" b="1" dirty="0" smtClean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can be used to manage these artifacts:</a:t>
            </a:r>
            <a:endParaRPr lang="en-US" b="1" dirty="0">
              <a:solidFill>
                <a:schemeClr val="accent1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>
          <a:xfrm>
            <a:off x="625930" y="1755321"/>
            <a:ext cx="5486400" cy="4794069"/>
          </a:xfrm>
        </p:spPr>
        <p:txBody>
          <a:bodyPr>
            <a:normAutofit fontScale="77500" lnSpcReduction="20000"/>
          </a:bodyPr>
          <a:lstStyle/>
          <a:p>
            <a:r>
              <a:rPr lang="en-US" sz="3300" b="1" dirty="0" err="1" smtClean="0">
                <a:solidFill>
                  <a:schemeClr val="accent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J</a:t>
            </a:r>
            <a:r>
              <a:rPr lang="en-US" sz="3600" b="1" dirty="0" err="1" smtClean="0">
                <a:solidFill>
                  <a:schemeClr val="accent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ira</a:t>
            </a:r>
            <a:r>
              <a:rPr lang="en-US" sz="3600" dirty="0" smtClean="0">
                <a:solidFill>
                  <a:schemeClr val="accent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:</a:t>
            </a:r>
          </a:p>
          <a:p>
            <a:r>
              <a:rPr lang="en-US" sz="3400" b="1" dirty="0" smtClean="0">
                <a:latin typeface="Times New Roman" pitchFamily="18" charset="0"/>
                <a:cs typeface="Times New Roman" pitchFamily="18" charset="0"/>
              </a:rPr>
              <a:t>Create a project</a:t>
            </a:r>
            <a:r>
              <a:rPr lang="en-US" sz="3400" dirty="0" smtClean="0">
                <a:latin typeface="Times New Roman" pitchFamily="18" charset="0"/>
                <a:cs typeface="Times New Roman" pitchFamily="18" charset="0"/>
              </a:rPr>
              <a:t>: In </a:t>
            </a:r>
            <a:r>
              <a:rPr lang="en-US" sz="3400" dirty="0" err="1" smtClean="0">
                <a:latin typeface="Times New Roman" pitchFamily="18" charset="0"/>
                <a:cs typeface="Times New Roman" pitchFamily="18" charset="0"/>
              </a:rPr>
              <a:t>Jira</a:t>
            </a:r>
            <a:r>
              <a:rPr lang="en-US" sz="3400" dirty="0" smtClean="0">
                <a:latin typeface="Times New Roman" pitchFamily="18" charset="0"/>
                <a:cs typeface="Times New Roman" pitchFamily="18" charset="0"/>
              </a:rPr>
              <a:t>, start by creating a Scrum project.</a:t>
            </a:r>
          </a:p>
          <a:p>
            <a:r>
              <a:rPr lang="en-US" sz="3400" b="1" dirty="0" smtClean="0">
                <a:latin typeface="Times New Roman" pitchFamily="18" charset="0"/>
                <a:cs typeface="Times New Roman" pitchFamily="18" charset="0"/>
              </a:rPr>
              <a:t>Set up the Backlog</a:t>
            </a:r>
            <a:r>
              <a:rPr lang="en-US" sz="3400" dirty="0" smtClean="0">
                <a:latin typeface="Times New Roman" pitchFamily="18" charset="0"/>
                <a:cs typeface="Times New Roman" pitchFamily="18" charset="0"/>
              </a:rPr>
              <a:t>: The Product Owner adds user stories or features to the product backlog. </a:t>
            </a:r>
          </a:p>
          <a:p>
            <a:r>
              <a:rPr lang="en-US" sz="3400" b="1" dirty="0" smtClean="0">
                <a:latin typeface="Times New Roman" pitchFamily="18" charset="0"/>
                <a:cs typeface="Times New Roman" pitchFamily="18" charset="0"/>
              </a:rPr>
              <a:t>Sprint Planning</a:t>
            </a:r>
            <a:r>
              <a:rPr lang="en-US" sz="3400" dirty="0" smtClean="0">
                <a:latin typeface="Times New Roman" pitchFamily="18" charset="0"/>
                <a:cs typeface="Times New Roman" pitchFamily="18" charset="0"/>
              </a:rPr>
              <a:t>: During Sprint Planning, the team moves items from the </a:t>
            </a:r>
            <a:r>
              <a:rPr lang="en-US" sz="3400" dirty="0" smtClean="0">
                <a:latin typeface="Times New Roman" pitchFamily="18" charset="0"/>
                <a:cs typeface="Times New Roman" pitchFamily="18" charset="0"/>
              </a:rPr>
              <a:t>backlog.</a:t>
            </a:r>
            <a:endParaRPr lang="en-US" sz="3400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3400" b="1" dirty="0" smtClean="0">
                <a:latin typeface="Times New Roman" pitchFamily="18" charset="0"/>
                <a:cs typeface="Times New Roman" pitchFamily="18" charset="0"/>
              </a:rPr>
              <a:t>Scrum Board</a:t>
            </a:r>
            <a:r>
              <a:rPr lang="en-US" sz="3400" dirty="0" smtClean="0">
                <a:latin typeface="Times New Roman" pitchFamily="18" charset="0"/>
                <a:cs typeface="Times New Roman" pitchFamily="18" charset="0"/>
              </a:rPr>
              <a:t>: Create a Scrum board to visualize progress</a:t>
            </a:r>
            <a:r>
              <a:rPr lang="en-US" sz="3400" dirty="0" smtClean="0">
                <a:latin typeface="Times New Roman" pitchFamily="18" charset="0"/>
                <a:cs typeface="Times New Roman" pitchFamily="18" charset="0"/>
              </a:rPr>
              <a:t>.</a:t>
            </a:r>
            <a:endParaRPr lang="en-US" sz="3400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3400" b="1" dirty="0" smtClean="0">
                <a:latin typeface="Times New Roman" pitchFamily="18" charset="0"/>
                <a:cs typeface="Times New Roman" pitchFamily="18" charset="0"/>
              </a:rPr>
              <a:t>Monitor Progress</a:t>
            </a:r>
            <a:r>
              <a:rPr lang="en-US" sz="3400" dirty="0" smtClean="0">
                <a:latin typeface="Times New Roman" pitchFamily="18" charset="0"/>
                <a:cs typeface="Times New Roman" pitchFamily="18" charset="0"/>
              </a:rPr>
              <a:t>: Use </a:t>
            </a:r>
            <a:r>
              <a:rPr lang="en-US" sz="3400" dirty="0" err="1" smtClean="0">
                <a:latin typeface="Times New Roman" pitchFamily="18" charset="0"/>
                <a:cs typeface="Times New Roman" pitchFamily="18" charset="0"/>
              </a:rPr>
              <a:t>Jira's</a:t>
            </a:r>
            <a:r>
              <a:rPr lang="en-US" sz="3400" dirty="0" smtClean="0">
                <a:latin typeface="Times New Roman" pitchFamily="18" charset="0"/>
                <a:cs typeface="Times New Roman" pitchFamily="18" charset="0"/>
              </a:rPr>
              <a:t> reporting features to track </a:t>
            </a:r>
            <a:r>
              <a:rPr lang="en-US" sz="3400" dirty="0" smtClean="0">
                <a:latin typeface="Times New Roman" pitchFamily="18" charset="0"/>
                <a:cs typeface="Times New Roman" pitchFamily="18" charset="0"/>
              </a:rPr>
              <a:t>velocity</a:t>
            </a:r>
            <a:r>
              <a:rPr lang="en-US" sz="3400" dirty="0" smtClean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>
              <a:buNone/>
            </a:pPr>
            <a:endParaRPr lang="en-US" dirty="0"/>
          </a:p>
        </p:txBody>
      </p:sp>
      <p:pic>
        <p:nvPicPr>
          <p:cNvPr id="5122" name="Picture 2" descr="https://cdn.prod.website-files.com/64b7ba4dc9375b7b74b2135e/6720e145e6e0fb1851e5c98f_6720df6777abb875b40389d4_IMG%2520-%25202.jpe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6290440" y="1939158"/>
            <a:ext cx="5328746" cy="4319752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="" xmlns:p14="http://schemas.microsoft.com/office/powerpoint/2010/main" val="17097026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5"/>
          <p:cNvSpPr>
            <a:spLocks noGrp="1"/>
          </p:cNvSpPr>
          <p:nvPr>
            <p:ph idx="1"/>
          </p:nvPr>
        </p:nvSpPr>
        <p:spPr>
          <a:xfrm>
            <a:off x="404874" y="1139716"/>
            <a:ext cx="5412602" cy="5472793"/>
          </a:xfrm>
        </p:spPr>
        <p:txBody>
          <a:bodyPr>
            <a:normAutofit/>
          </a:bodyPr>
          <a:lstStyle/>
          <a:p>
            <a:r>
              <a:rPr lang="en-US" b="1" dirty="0" err="1" smtClean="0">
                <a:solidFill>
                  <a:schemeClr val="accent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Trello</a:t>
            </a:r>
            <a:r>
              <a:rPr lang="en-US" dirty="0" smtClean="0">
                <a:solidFill>
                  <a:schemeClr val="accent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:</a:t>
            </a:r>
          </a:p>
          <a:p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Create Boards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: Set up a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Trello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board for each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sprint</a:t>
            </a:r>
            <a:endParaRPr lang="en-US" i="1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Create Cards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: Add tasks or user stories as cards. </a:t>
            </a:r>
          </a:p>
          <a:p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Move Cards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: As work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progresses</a:t>
            </a:r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Power-Ups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: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Trello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offers Power-Ups for reporting .</a:t>
            </a:r>
          </a:p>
          <a:p>
            <a:pPr>
              <a:buNone/>
            </a:pPr>
            <a:endParaRPr lang="en-US" dirty="0"/>
          </a:p>
        </p:txBody>
      </p:sp>
      <p:sp>
        <p:nvSpPr>
          <p:cNvPr id="2050" name="AutoShape 2" descr="Scrum Artifacts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4098" name="Picture 2" descr="https://cdn.prod.website-files.com/64b7ba4dc9375b7b74b2135e/671b92177ab8cb382c2bdc9a_671b910eaf13fd5f355404c3_IMG%25204%2520(1).jpe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6432331" y="1292771"/>
            <a:ext cx="5312979" cy="5076497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="" xmlns:p14="http://schemas.microsoft.com/office/powerpoint/2010/main" val="17097026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</a:t>
            </a:r>
            <a:r>
              <a:rPr lang="en-US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Daily Standup (Daily Scrum)</a:t>
            </a:r>
            <a:endParaRPr lang="en-US" b="1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Content Placeholder 5"/>
          <p:cNvSpPr>
            <a:spLocks noGrp="1"/>
          </p:cNvSpPr>
          <p:nvPr>
            <p:ph idx="1"/>
          </p:nvPr>
        </p:nvSpPr>
        <p:spPr>
          <a:xfrm>
            <a:off x="499467" y="1797268"/>
            <a:ext cx="6020888" cy="4713890"/>
          </a:xfrm>
        </p:spPr>
        <p:txBody>
          <a:bodyPr>
            <a:normAutofit lnSpcReduction="10000"/>
          </a:bodyPr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The </a:t>
            </a:r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Daily Standup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is a quick, 15-minute meeting, usually held at the same time and place every day.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The format typically follows these three questions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:-</a:t>
            </a:r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What did I do yesterday?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(What tasks were completed?)</a:t>
            </a:r>
          </a:p>
          <a:p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What will I do today?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(What tasks will I work on today?)</a:t>
            </a:r>
          </a:p>
          <a:p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Do I have any blockers?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(Are there any obstacles that need to be addressed?)</a:t>
            </a:r>
          </a:p>
          <a:p>
            <a:pPr>
              <a:buNone/>
            </a:pPr>
            <a:endParaRPr lang="en-US" dirty="0"/>
          </a:p>
        </p:txBody>
      </p:sp>
      <p:pic>
        <p:nvPicPr>
          <p:cNvPr id="6" name="Picture 5" descr="The-Daily-Scrum-2.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52840" y="2120501"/>
            <a:ext cx="5143386" cy="3507789"/>
          </a:xfrm>
          <a:prstGeom prst="rect">
            <a:avLst/>
          </a:prstGeom>
        </p:spPr>
      </p:pic>
    </p:spTree>
    <p:extLst>
      <p:ext uri="{BB962C8B-B14F-4D97-AF65-F5344CB8AC3E}">
        <p14:creationId xmlns="" xmlns:p14="http://schemas.microsoft.com/office/powerpoint/2010/main" val="23750295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AutoShape 2" descr="https://startinfinity.s3.us-east-2.amazonaws.com/t/9Hp8x4Njxd5dInQyB3hBwe9SqnfQ5pMAAVzxelQr.png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2052" name="Picture 4" descr="https://startinfinity.s3.us-east-2.amazonaws.com/t/9Hp8x4Njxd5dInQyB3hBwe9SqnfQ5pMAAVzxelQr.pn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036584" y="692314"/>
            <a:ext cx="10477500" cy="5657851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="" xmlns:p14="http://schemas.microsoft.com/office/powerpoint/2010/main" val="23750295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1401</TotalTime>
  <Words>500</Words>
  <Application>Microsoft Office PowerPoint</Application>
  <PresentationFormat>Custom</PresentationFormat>
  <Paragraphs>52</Paragraphs>
  <Slides>12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3" baseType="lpstr">
      <vt:lpstr>Office Theme</vt:lpstr>
      <vt:lpstr>UNIT-1</vt:lpstr>
      <vt:lpstr>Table of Content</vt:lpstr>
      <vt:lpstr>What is Scrum framework</vt:lpstr>
      <vt:lpstr>Scrum Methodology</vt:lpstr>
      <vt:lpstr> </vt:lpstr>
      <vt:lpstr>Slide 6</vt:lpstr>
      <vt:lpstr>Slide 7</vt:lpstr>
      <vt:lpstr>Setting Up a Scrum Board and Backlog  </vt:lpstr>
      <vt:lpstr>Tools like Jira or Trello can be used to manage these artifacts:</vt:lpstr>
      <vt:lpstr>Slide 10</vt:lpstr>
      <vt:lpstr>          Daily Standup (Daily Scrum)</vt:lpstr>
      <vt:lpstr>Slide 12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Sumit Mittu</dc:creator>
  <cp:lastModifiedBy>SidPC</cp:lastModifiedBy>
  <cp:revision>158</cp:revision>
  <dcterms:created xsi:type="dcterms:W3CDTF">2024-01-05T12:53:00Z</dcterms:created>
  <dcterms:modified xsi:type="dcterms:W3CDTF">2025-01-24T10:35:18Z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7C091719EBE344EF8BB36FD6E682C72E</vt:lpwstr>
  </property>
  <property fmtid="{D5CDD505-2E9C-101B-9397-08002B2CF9AE}" pid="3" name="KSOProductBuildVer">
    <vt:lpwstr>1033-11.2.0.11225</vt:lpwstr>
  </property>
</Properties>
</file>