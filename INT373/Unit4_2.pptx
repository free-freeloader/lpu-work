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1" r:id="rId10"/>
    <p:sldId id="262" r:id="rId11"/>
    <p:sldId id="271" r:id="rId12"/>
    <p:sldId id="272" r:id="rId13"/>
    <p:sldId id="273" r:id="rId14"/>
    <p:sldId id="274" r:id="rId15"/>
    <p:sldId id="266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Agile Metrics &amp; Test-Driven Development (TDD) &amp; Behavior-Driven Development (BDD)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Velocity, Burndown, Cycle Time, and Hands-on Exercises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Velocity in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Measures the amount of work completed in a sprint</a:t>
            </a:r>
          </a:p>
          <a:p>
            <a:r>
              <a:rPr dirty="0"/>
              <a:t>Helps teams predict future performance</a:t>
            </a:r>
          </a:p>
          <a:p>
            <a:r>
              <a:rPr dirty="0"/>
              <a:t>Calculated as story points completed per sprint</a:t>
            </a:r>
          </a:p>
          <a:p>
            <a:r>
              <a:rPr dirty="0"/>
              <a:t>Used for sprint planning and 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E630AF1-2E4F-4F05-8F6C-04EFF7C7B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89316"/>
            <a:ext cx="8229600" cy="5781821"/>
          </a:xfrm>
        </p:spPr>
      </p:pic>
    </p:spTree>
    <p:extLst>
      <p:ext uri="{BB962C8B-B14F-4D97-AF65-F5344CB8AC3E}">
        <p14:creationId xmlns:p14="http://schemas.microsoft.com/office/powerpoint/2010/main" val="5058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Burndown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Tracks remaining work over time</a:t>
            </a:r>
          </a:p>
          <a:p>
            <a:r>
              <a:rPr dirty="0"/>
              <a:t>Helps visualize progress toward sprint goals</a:t>
            </a:r>
          </a:p>
          <a:p>
            <a:r>
              <a:rPr dirty="0"/>
              <a:t>X-axis: Time (days, weeks)</a:t>
            </a:r>
          </a:p>
          <a:p>
            <a:r>
              <a:rPr dirty="0"/>
              <a:t>Y-axis: Remaining work (story points, hours)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9C2FCBA-B4BD-42D6-99BD-A2E37E763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775" y="1153551"/>
            <a:ext cx="7512148" cy="5106572"/>
          </a:xfrm>
        </p:spPr>
      </p:pic>
    </p:spTree>
    <p:extLst>
      <p:ext uri="{BB962C8B-B14F-4D97-AF65-F5344CB8AC3E}">
        <p14:creationId xmlns:p14="http://schemas.microsoft.com/office/powerpoint/2010/main" val="2247966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Measures the time taken to complete a task</a:t>
            </a:r>
          </a:p>
          <a:p>
            <a:r>
              <a:rPr dirty="0"/>
              <a:t>Helps improve process efficiency</a:t>
            </a:r>
          </a:p>
          <a:p>
            <a:r>
              <a:rPr dirty="0"/>
              <a:t>Lower cycle time = faster delivery</a:t>
            </a:r>
          </a:p>
          <a:p>
            <a:r>
              <a:rPr dirty="0"/>
              <a:t>Can be visualized using cumulative flow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E65BB05-7D1E-40A3-B21F-0D4AD5B36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572" y="506437"/>
            <a:ext cx="8074856" cy="5950634"/>
          </a:xfrm>
        </p:spPr>
      </p:pic>
    </p:spTree>
    <p:extLst>
      <p:ext uri="{BB962C8B-B14F-4D97-AF65-F5344CB8AC3E}">
        <p14:creationId xmlns:p14="http://schemas.microsoft.com/office/powerpoint/2010/main" val="195706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Test-Driven Development (TDD)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tests before writing the actual code</a:t>
            </a:r>
          </a:p>
          <a:p>
            <a:r>
              <a:rPr dirty="0"/>
              <a:t>Follow the Red-Green-Refactor cycle:</a:t>
            </a:r>
          </a:p>
          <a:p>
            <a:pPr marL="0" indent="0">
              <a:buNone/>
            </a:pPr>
            <a:r>
              <a:rPr dirty="0"/>
              <a:t>1. Write a failing test (Red)</a:t>
            </a:r>
          </a:p>
          <a:p>
            <a:pPr marL="0" indent="0">
              <a:buNone/>
            </a:pPr>
            <a:r>
              <a:rPr dirty="0"/>
              <a:t>2. Write minimal code to pass the test (Green)</a:t>
            </a:r>
          </a:p>
          <a:p>
            <a:pPr marL="0" indent="0">
              <a:buNone/>
            </a:pPr>
            <a:r>
              <a:rPr dirty="0"/>
              <a:t>3. Refactor and improve the code</a:t>
            </a:r>
          </a:p>
          <a:p>
            <a:r>
              <a:rPr dirty="0"/>
              <a:t>Ensures code reliability and maintainability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Behavior-Driven Development (BDD)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Focuses on user behavior and system response</a:t>
            </a:r>
          </a:p>
          <a:p>
            <a:r>
              <a:rPr dirty="0"/>
              <a:t>Uses natural language (Gherkin syntax)</a:t>
            </a:r>
          </a:p>
          <a:p>
            <a:pPr marL="0" indent="0">
              <a:buNone/>
            </a:pPr>
            <a:r>
              <a:rPr dirty="0"/>
              <a:t>Example:</a:t>
            </a:r>
            <a:endParaRPr lang="en-GB" dirty="0"/>
          </a:p>
          <a:p>
            <a:r>
              <a:rPr dirty="0"/>
              <a:t>Given a user logs in</a:t>
            </a:r>
          </a:p>
          <a:p>
            <a:r>
              <a:rPr dirty="0"/>
              <a:t>When they enter correct credentials</a:t>
            </a:r>
          </a:p>
          <a:p>
            <a:r>
              <a:rPr dirty="0"/>
              <a:t>Then they should </a:t>
            </a:r>
            <a:r>
              <a:rPr lang="en-GB" dirty="0"/>
              <a:t>direct to</a:t>
            </a:r>
            <a:r>
              <a:rPr dirty="0"/>
              <a:t> the dashboard</a:t>
            </a:r>
            <a:r>
              <a:rPr lang="en-GB" dirty="0"/>
              <a:t> page</a:t>
            </a:r>
            <a:endParaRPr dirty="0"/>
          </a:p>
          <a:p>
            <a:r>
              <a:rPr dirty="0"/>
              <a:t>Enhances collaboration between developers, testers, and business stakeholders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Exercises: TDD &amp; BDD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TDD Exercise: Write unit tests before coding a simple calculator</a:t>
            </a:r>
          </a:p>
          <a:p>
            <a:r>
              <a:rPr dirty="0"/>
              <a:t>BDD Exercise: Define user stories for an e-commerce login system</a:t>
            </a:r>
          </a:p>
          <a:p>
            <a:r>
              <a:rPr dirty="0"/>
              <a:t>Use tools like JUnit (for TDD) and Cucumber (for BDD)</a:t>
            </a:r>
          </a:p>
          <a:p>
            <a:r>
              <a:rPr dirty="0"/>
              <a:t>Practice refactoring and improving code iteratively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 Programming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Involves two programmers working together on one workstation</a:t>
            </a:r>
          </a:p>
          <a:p>
            <a:r>
              <a:rPr dirty="0"/>
              <a:t>Roles: 'Driver' (writes the code) &amp; 'Navigator' (reviews and strategizes)</a:t>
            </a:r>
          </a:p>
          <a:p>
            <a:r>
              <a:rPr dirty="0"/>
              <a:t>Improves code quality, knowledge sharing, and collaboration</a:t>
            </a:r>
          </a:p>
          <a:p>
            <a:r>
              <a:rPr dirty="0"/>
              <a:t>Helps in early detection of bugs and logical errors</a:t>
            </a:r>
          </a:p>
          <a:p>
            <a:r>
              <a:rPr dirty="0"/>
              <a:t>Encourages better design decisions and adherence to coding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Peer Evaluations in Pair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Provides constructive feedback on coding skills and collaboration</a:t>
            </a:r>
          </a:p>
          <a:p>
            <a:r>
              <a:t>• Evaluates communication, problem-solving, and adaptability</a:t>
            </a:r>
          </a:p>
          <a:p>
            <a:r>
              <a:t>• Can be done through structured rubrics or informal feedback sessions</a:t>
            </a:r>
          </a:p>
          <a:p>
            <a:r>
              <a:t>• Helps identify strengths and areas for improvement</a:t>
            </a:r>
          </a:p>
          <a:p>
            <a:r>
              <a:t>• Encourages continuous learning and team synergy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Using Agile Metrics in Project Management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Tools like Jira, Trello, and Azure DevOps track Agile progress</a:t>
            </a:r>
          </a:p>
          <a:p>
            <a:r>
              <a:rPr dirty="0"/>
              <a:t>Key Agile Metrics used in project management:</a:t>
            </a:r>
          </a:p>
          <a:p>
            <a:r>
              <a:rPr dirty="0"/>
              <a:t>  - Velocity: Measures completed work per sprint</a:t>
            </a:r>
          </a:p>
          <a:p>
            <a:r>
              <a:rPr dirty="0"/>
              <a:t>  - Burndown Chart: Tracks remaining work over time</a:t>
            </a:r>
          </a:p>
          <a:p>
            <a:r>
              <a:rPr dirty="0"/>
              <a:t>  - Cycle Time: Measures time taken to complete tasks</a:t>
            </a:r>
          </a:p>
          <a:p>
            <a:r>
              <a:rPr dirty="0"/>
              <a:t>  - Lead Time: Tracks time from request to completion</a:t>
            </a:r>
          </a:p>
          <a:p>
            <a:r>
              <a:rPr dirty="0"/>
              <a:t>  - Cumulative Flow Diagram: Visualizes task distribution</a:t>
            </a:r>
          </a:p>
          <a:p>
            <a:pPr marL="0" indent="0">
              <a:buNone/>
            </a:pPr>
            <a:r>
              <a:rPr dirty="0"/>
              <a:t> Helps teams improve efficiency and make data-driven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Tracking Agile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Provides transparency into project progress</a:t>
            </a:r>
          </a:p>
          <a:p>
            <a:r>
              <a:rPr dirty="0"/>
              <a:t>Helps identify bottlenecks and inefficiencies</a:t>
            </a:r>
          </a:p>
          <a:p>
            <a:r>
              <a:rPr dirty="0"/>
              <a:t>Enables better sprint planning and workload distribution</a:t>
            </a:r>
          </a:p>
          <a:p>
            <a:r>
              <a:rPr dirty="0"/>
              <a:t>Enhances team accountability and continuous improvement</a:t>
            </a:r>
          </a:p>
          <a:p>
            <a:r>
              <a:rPr dirty="0"/>
              <a:t>Supports stakeholder communication with clear data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MCQ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5754"/>
            <a:ext cx="8229600" cy="49304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000" dirty="0"/>
              <a:t>1. </a:t>
            </a:r>
            <a:r>
              <a:rPr sz="2000" dirty="0"/>
              <a:t>What does Velocity measure in Agile?</a:t>
            </a:r>
          </a:p>
          <a:p>
            <a:pPr marL="0" indent="0">
              <a:buNone/>
            </a:pPr>
            <a:r>
              <a:rPr sz="2000" dirty="0"/>
              <a:t>A) The number of defects fixed</a:t>
            </a:r>
          </a:p>
          <a:p>
            <a:pPr marL="0" indent="0">
              <a:buNone/>
            </a:pPr>
            <a:r>
              <a:rPr sz="2000" dirty="0"/>
              <a:t>B) The amount of work completed in a sprint</a:t>
            </a:r>
          </a:p>
          <a:p>
            <a:pPr marL="0" indent="0">
              <a:buNone/>
            </a:pPr>
            <a:r>
              <a:rPr sz="2000" dirty="0"/>
              <a:t>C) The number of team members</a:t>
            </a:r>
          </a:p>
          <a:p>
            <a:pPr marL="0" indent="0">
              <a:buNone/>
            </a:pPr>
            <a:r>
              <a:rPr sz="2000" dirty="0"/>
              <a:t>D) The amount of documentation produced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2. Which metric tracks remaining work over time in Agile</a:t>
            </a:r>
          </a:p>
          <a:p>
            <a:pPr marL="457200" indent="-457200">
              <a:buAutoNum type="alphaUcParenR"/>
            </a:pPr>
            <a:r>
              <a:rPr lang="en-GB" sz="2000" dirty="0"/>
              <a:t>Velocity B) Cycle Time C) Burndown Chart  D) Lead Time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3. What does Cycle Time measure?</a:t>
            </a:r>
          </a:p>
          <a:p>
            <a:pPr marL="0" indent="0">
              <a:buNone/>
            </a:pPr>
            <a:r>
              <a:rPr lang="en-GB" sz="2000" dirty="0"/>
              <a:t>A) The time taken to complete a task</a:t>
            </a:r>
          </a:p>
          <a:p>
            <a:pPr marL="0" indent="0">
              <a:buNone/>
            </a:pPr>
            <a:r>
              <a:rPr lang="en-GB" sz="2000" dirty="0"/>
              <a:t>B) The number of sprints completed</a:t>
            </a:r>
          </a:p>
          <a:p>
            <a:pPr marL="0" indent="0">
              <a:buNone/>
            </a:pPr>
            <a:r>
              <a:rPr lang="en-GB" sz="2000" dirty="0"/>
              <a:t>C) The number of team meetings</a:t>
            </a:r>
          </a:p>
          <a:p>
            <a:pPr marL="0" indent="0">
              <a:buNone/>
            </a:pPr>
            <a:r>
              <a:rPr lang="en-GB" sz="2000" dirty="0"/>
              <a:t>D) The amount of user stories delivered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6098"/>
            <a:ext cx="8229600" cy="56900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4. </a:t>
            </a:r>
            <a:r>
              <a:rPr sz="2000" dirty="0"/>
              <a:t>What is the first step in Test-Driven Development (TDD)?</a:t>
            </a:r>
          </a:p>
          <a:p>
            <a:pPr marL="0" indent="0">
              <a:buNone/>
            </a:pPr>
            <a:r>
              <a:rPr sz="2000" dirty="0"/>
              <a:t>A) Writing the actual code</a:t>
            </a:r>
            <a:endParaRPr lang="en-GB" sz="2000" dirty="0"/>
          </a:p>
          <a:p>
            <a:pPr marL="0" indent="0">
              <a:buNone/>
            </a:pPr>
            <a:r>
              <a:rPr sz="2000" dirty="0"/>
              <a:t>B) Writing a failing test</a:t>
            </a:r>
          </a:p>
          <a:p>
            <a:pPr marL="0" indent="0">
              <a:buNone/>
            </a:pPr>
            <a:r>
              <a:rPr sz="2000" dirty="0"/>
              <a:t>C) Refactoring the code</a:t>
            </a:r>
          </a:p>
          <a:p>
            <a:pPr marL="0" indent="0">
              <a:buNone/>
            </a:pPr>
            <a:r>
              <a:rPr sz="2000" dirty="0"/>
              <a:t>D) Writing documentation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5</a:t>
            </a:r>
            <a:r>
              <a:rPr lang="en-IN" sz="2000" dirty="0"/>
              <a:t>. </a:t>
            </a:r>
            <a:r>
              <a:rPr lang="en-GB" sz="2000" dirty="0"/>
              <a:t>In the Red-Green-Refactor cycle of TDD, what does ‘Green’ signify?</a:t>
            </a:r>
          </a:p>
          <a:p>
            <a:pPr marL="0" indent="0">
              <a:buNone/>
            </a:pPr>
            <a:r>
              <a:rPr lang="en-GB" sz="2000" dirty="0"/>
              <a:t>A) Writing a new test</a:t>
            </a:r>
          </a:p>
          <a:p>
            <a:pPr marL="0" indent="0">
              <a:buNone/>
            </a:pPr>
            <a:r>
              <a:rPr lang="en-GB" sz="2000" dirty="0"/>
              <a:t>B) Fixing a bug</a:t>
            </a:r>
          </a:p>
          <a:p>
            <a:pPr marL="0" indent="0">
              <a:buNone/>
            </a:pPr>
            <a:r>
              <a:rPr lang="en-GB" sz="2000" dirty="0"/>
              <a:t>C) Writing the minimal code to pass the test</a:t>
            </a:r>
          </a:p>
          <a:p>
            <a:pPr marL="0" indent="0">
              <a:buNone/>
            </a:pPr>
            <a:r>
              <a:rPr lang="en-GB" sz="2000" dirty="0"/>
              <a:t>D) Refactoring the code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6. What does BDD stand for?</a:t>
            </a:r>
          </a:p>
          <a:p>
            <a:pPr marL="0" indent="0">
              <a:buNone/>
            </a:pPr>
            <a:r>
              <a:rPr lang="en-GB" sz="2000" dirty="0"/>
              <a:t>A) Basic Development Design</a:t>
            </a:r>
          </a:p>
          <a:p>
            <a:pPr marL="0" indent="0">
              <a:buNone/>
            </a:pPr>
            <a:r>
              <a:rPr lang="en-GB" sz="2000" dirty="0"/>
              <a:t>B) </a:t>
            </a:r>
            <a:r>
              <a:rPr lang="en-GB" sz="2000" dirty="0" err="1"/>
              <a:t>Behavior</a:t>
            </a:r>
            <a:r>
              <a:rPr lang="en-GB" sz="2000" dirty="0"/>
              <a:t>-Driven Development</a:t>
            </a:r>
          </a:p>
          <a:p>
            <a:pPr marL="0" indent="0">
              <a:buNone/>
            </a:pPr>
            <a:r>
              <a:rPr lang="en-GB" sz="2000" dirty="0"/>
              <a:t>C) Best Development Decisions</a:t>
            </a:r>
          </a:p>
          <a:p>
            <a:pPr marL="0" indent="0">
              <a:buNone/>
            </a:pPr>
            <a:r>
              <a:rPr lang="en-GB" sz="2000" dirty="0"/>
              <a:t>D) Bug-Driven Design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7. </a:t>
            </a:r>
            <a:r>
              <a:rPr sz="2000" dirty="0"/>
              <a:t>Which syntax is commonly used in BDD?</a:t>
            </a:r>
          </a:p>
          <a:p>
            <a:pPr marL="0" indent="0">
              <a:buNone/>
            </a:pPr>
            <a:r>
              <a:rPr sz="2000" dirty="0"/>
              <a:t>A) JSON</a:t>
            </a:r>
            <a:r>
              <a:rPr lang="en-GB" sz="2000" dirty="0"/>
              <a:t>   </a:t>
            </a:r>
            <a:r>
              <a:rPr sz="2000" dirty="0"/>
              <a:t>B) XML</a:t>
            </a:r>
            <a:r>
              <a:rPr lang="en-GB" sz="2000" dirty="0"/>
              <a:t>    </a:t>
            </a:r>
            <a:r>
              <a:rPr sz="2000" dirty="0"/>
              <a:t>C) Gherkin</a:t>
            </a:r>
            <a:r>
              <a:rPr lang="en-GB" sz="2000" dirty="0"/>
              <a:t>     </a:t>
            </a:r>
            <a:r>
              <a:rPr sz="2000" dirty="0"/>
              <a:t>D) YAML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8</a:t>
            </a:r>
            <a:r>
              <a:rPr lang="en-IN" sz="2000" dirty="0"/>
              <a:t>. </a:t>
            </a:r>
            <a:r>
              <a:rPr lang="en-GB" sz="2000" dirty="0"/>
              <a:t>Which of the following is NOT a benefit of TDD?</a:t>
            </a:r>
          </a:p>
          <a:p>
            <a:pPr marL="0" indent="0">
              <a:buNone/>
            </a:pPr>
            <a:r>
              <a:rPr lang="en-GB" sz="2000" dirty="0"/>
              <a:t>A) Reduces debugging time</a:t>
            </a:r>
          </a:p>
          <a:p>
            <a:pPr marL="0" indent="0">
              <a:buNone/>
            </a:pPr>
            <a:r>
              <a:rPr lang="en-GB" sz="2000" dirty="0"/>
              <a:t>B) Increases test coverage</a:t>
            </a:r>
          </a:p>
          <a:p>
            <a:pPr marL="0" indent="0">
              <a:buNone/>
            </a:pPr>
            <a:r>
              <a:rPr lang="en-GB" sz="2000" dirty="0"/>
              <a:t>C) Removes the need for testing</a:t>
            </a:r>
          </a:p>
          <a:p>
            <a:pPr marL="0" indent="0">
              <a:buNone/>
            </a:pPr>
            <a:r>
              <a:rPr lang="en-GB" sz="2000" dirty="0"/>
              <a:t>D) Improves code quality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9. What is the purpose of a Burndown Chart?</a:t>
            </a:r>
          </a:p>
          <a:p>
            <a:pPr marL="0" indent="0">
              <a:buNone/>
            </a:pPr>
            <a:r>
              <a:rPr lang="en-GB" sz="2000" dirty="0"/>
              <a:t>A) To track team performance</a:t>
            </a:r>
          </a:p>
          <a:p>
            <a:pPr marL="0" indent="0">
              <a:buNone/>
            </a:pPr>
            <a:r>
              <a:rPr lang="en-GB" sz="2000" dirty="0"/>
              <a:t>B) To measure code efficiency</a:t>
            </a:r>
          </a:p>
          <a:p>
            <a:pPr marL="0" indent="0">
              <a:buNone/>
            </a:pPr>
            <a:r>
              <a:rPr lang="en-GB" sz="2000" dirty="0"/>
              <a:t>C) To visualize remaining work in a sprint</a:t>
            </a:r>
          </a:p>
          <a:p>
            <a:pPr marL="0" indent="0">
              <a:buNone/>
            </a:pPr>
            <a:r>
              <a:rPr lang="en-GB" sz="2000" dirty="0"/>
              <a:t>D) To identify defects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000" dirty="0"/>
              <a:t>10. </a:t>
            </a:r>
            <a:r>
              <a:rPr sz="2000" dirty="0"/>
              <a:t>Which tool is commonly used for BDD?</a:t>
            </a:r>
          </a:p>
          <a:p>
            <a:pPr marL="0" indent="0">
              <a:buNone/>
            </a:pPr>
            <a:r>
              <a:rPr sz="2000" dirty="0"/>
              <a:t>A) J</a:t>
            </a:r>
            <a:r>
              <a:rPr lang="en-IN" sz="2000" dirty="0"/>
              <a:t>u</a:t>
            </a:r>
            <a:r>
              <a:rPr sz="2000" dirty="0"/>
              <a:t>nit</a:t>
            </a:r>
            <a:r>
              <a:rPr lang="en-GB" sz="2000" dirty="0"/>
              <a:t>  </a:t>
            </a:r>
            <a:r>
              <a:rPr sz="2000" dirty="0"/>
              <a:t>B) Selenium</a:t>
            </a:r>
            <a:r>
              <a:rPr lang="en-GB" sz="2000" dirty="0"/>
              <a:t>  </a:t>
            </a:r>
            <a:r>
              <a:rPr sz="2000" dirty="0"/>
              <a:t>C) Cucumber</a:t>
            </a:r>
            <a:r>
              <a:rPr lang="en-GB" sz="2000" dirty="0"/>
              <a:t>  </a:t>
            </a:r>
            <a:r>
              <a:rPr sz="2000" dirty="0"/>
              <a:t>D) Jenkins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</a:t>
            </a:r>
            <a:r>
              <a:rPr lang="en-IN" sz="2000" dirty="0"/>
              <a:t>1. </a:t>
            </a:r>
            <a:r>
              <a:rPr lang="en-GB" sz="2000" dirty="0"/>
              <a:t>What is the key focus of BDD?</a:t>
            </a:r>
          </a:p>
          <a:p>
            <a:pPr marL="0" indent="0">
              <a:buNone/>
            </a:pPr>
            <a:r>
              <a:rPr lang="en-GB" sz="2000" dirty="0"/>
              <a:t>A) Writing unit tests</a:t>
            </a:r>
          </a:p>
          <a:p>
            <a:pPr marL="0" indent="0">
              <a:buNone/>
            </a:pPr>
            <a:r>
              <a:rPr lang="en-GB" sz="2000" dirty="0"/>
              <a:t>B) System </a:t>
            </a:r>
            <a:r>
              <a:rPr lang="en-GB" sz="2000" dirty="0" err="1"/>
              <a:t>behavior</a:t>
            </a:r>
            <a:r>
              <a:rPr lang="en-GB" sz="2000" dirty="0"/>
              <a:t> from a user perspective</a:t>
            </a:r>
          </a:p>
          <a:p>
            <a:pPr marL="0" indent="0">
              <a:buNone/>
            </a:pPr>
            <a:r>
              <a:rPr lang="en-GB" sz="2000" dirty="0"/>
              <a:t>C) Code optimization</a:t>
            </a:r>
          </a:p>
          <a:p>
            <a:pPr marL="0" indent="0">
              <a:buNone/>
            </a:pPr>
            <a:r>
              <a:rPr lang="en-GB" sz="2000" dirty="0"/>
              <a:t>D) Measuring velocity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12. Which of the following is a correct example of a BDD scenario?</a:t>
            </a:r>
          </a:p>
          <a:p>
            <a:pPr marL="0" indent="0">
              <a:buNone/>
            </a:pPr>
            <a:r>
              <a:rPr lang="en-GB" sz="2000" dirty="0"/>
              <a:t>A) 'if (x &gt; y) return x; else return y;'</a:t>
            </a:r>
          </a:p>
          <a:p>
            <a:pPr marL="0" indent="0">
              <a:buNone/>
            </a:pPr>
            <a:r>
              <a:rPr lang="en-GB" sz="2000" dirty="0"/>
              <a:t>B) 'Given a user is logged in, When they click on logout, Then they should be logged out'</a:t>
            </a:r>
          </a:p>
          <a:p>
            <a:pPr marL="0" indent="0">
              <a:buNone/>
            </a:pPr>
            <a:r>
              <a:rPr lang="en-GB" sz="2000" dirty="0"/>
              <a:t>C) 'def add(a, b): return a + b'</a:t>
            </a:r>
          </a:p>
          <a:p>
            <a:pPr marL="0" indent="0">
              <a:buNone/>
            </a:pPr>
            <a:r>
              <a:rPr lang="en-GB" sz="2000" dirty="0"/>
              <a:t>D) 'SELECT * FROM users WHERE active = 1;'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13. </a:t>
            </a:r>
            <a:r>
              <a:rPr sz="2000" dirty="0"/>
              <a:t>Which Agile metric helps teams estimate future performance?</a:t>
            </a:r>
          </a:p>
          <a:p>
            <a:pPr marL="0" indent="0">
              <a:buNone/>
            </a:pPr>
            <a:r>
              <a:rPr sz="2000" dirty="0"/>
              <a:t>A) Burndown Chart</a:t>
            </a:r>
            <a:r>
              <a:rPr lang="en-GB" sz="2000" dirty="0"/>
              <a:t>  </a:t>
            </a:r>
            <a:r>
              <a:rPr sz="2000" dirty="0"/>
              <a:t>B) Velocity</a:t>
            </a:r>
            <a:r>
              <a:rPr lang="en-GB" sz="2000" dirty="0"/>
              <a:t>  </a:t>
            </a:r>
            <a:r>
              <a:rPr sz="2000" dirty="0"/>
              <a:t>C) Test Coverage</a:t>
            </a:r>
            <a:r>
              <a:rPr lang="en-GB" sz="2000" dirty="0"/>
              <a:t>   </a:t>
            </a:r>
            <a:r>
              <a:rPr sz="2000" dirty="0"/>
              <a:t>D) Code Complexity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14. How does TDD help in software development?</a:t>
            </a:r>
          </a:p>
          <a:p>
            <a:pPr marL="0" indent="0">
              <a:buNone/>
            </a:pPr>
            <a:r>
              <a:rPr lang="en-GB" sz="2000" dirty="0"/>
              <a:t>A) By eliminating the need for debugging</a:t>
            </a:r>
          </a:p>
          <a:p>
            <a:pPr marL="0" indent="0">
              <a:buNone/>
            </a:pPr>
            <a:r>
              <a:rPr lang="en-GB" sz="2000" dirty="0"/>
              <a:t>B) By ensuring code passes tests before implementation</a:t>
            </a:r>
          </a:p>
          <a:p>
            <a:pPr marL="0" indent="0">
              <a:buNone/>
            </a:pPr>
            <a:r>
              <a:rPr lang="en-GB" sz="2000" dirty="0"/>
              <a:t>C) By writing code without requirements</a:t>
            </a:r>
          </a:p>
          <a:p>
            <a:pPr marL="0" indent="0">
              <a:buNone/>
            </a:pPr>
            <a:r>
              <a:rPr lang="en-GB" sz="2000" dirty="0"/>
              <a:t>D) By increasing code duplication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15. Which Agile metric is used to measure the speed of task completion?</a:t>
            </a:r>
          </a:p>
          <a:p>
            <a:pPr marL="0" indent="0">
              <a:buNone/>
            </a:pPr>
            <a:r>
              <a:rPr lang="en-GB" sz="2000" dirty="0"/>
              <a:t>A) Sprint Goal</a:t>
            </a:r>
          </a:p>
          <a:p>
            <a:pPr marL="0" indent="0">
              <a:buNone/>
            </a:pPr>
            <a:r>
              <a:rPr lang="en-GB" sz="2000" dirty="0"/>
              <a:t>B) Cycle Time</a:t>
            </a:r>
          </a:p>
          <a:p>
            <a:pPr marL="0" indent="0">
              <a:buNone/>
            </a:pPr>
            <a:r>
              <a:rPr lang="en-GB" sz="2000" dirty="0"/>
              <a:t>C) Test Cases</a:t>
            </a:r>
          </a:p>
          <a:p>
            <a:pPr marL="0" indent="0">
              <a:buNone/>
            </a:pPr>
            <a:r>
              <a:rPr lang="en-GB" sz="2000" dirty="0"/>
              <a:t>D) Bug Rate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1011</Words>
  <Application>Microsoft Office PowerPoint</Application>
  <PresentationFormat>On-screen Show (4:3)</PresentationFormat>
  <Paragraphs>138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Agile Metrics &amp; Test-Driven Development (TDD) &amp; Behavior-Driven Development (BDD)</vt:lpstr>
      <vt:lpstr>Velocity in Agile</vt:lpstr>
      <vt:lpstr>PowerPoint Presentation</vt:lpstr>
      <vt:lpstr>Burndown Chart</vt:lpstr>
      <vt:lpstr>PowerPoint Presentation</vt:lpstr>
      <vt:lpstr>Cycle Time</vt:lpstr>
      <vt:lpstr>PowerPoint Presentation</vt:lpstr>
      <vt:lpstr>Test-Driven Development (TDD)</vt:lpstr>
      <vt:lpstr>Behavior-Driven Development (BDD)</vt:lpstr>
      <vt:lpstr>Hands-on Exercises: TDD &amp; BDD</vt:lpstr>
      <vt:lpstr>Pair Programming Practice</vt:lpstr>
      <vt:lpstr>Peer Evaluations in Pair Programming</vt:lpstr>
      <vt:lpstr>Using Agile Metrics in Project Management Tools</vt:lpstr>
      <vt:lpstr>Benefits of Tracking Agile Metrics</vt:lpstr>
      <vt:lpstr>MCQ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Metrics &amp; Test-Driven Development (TDD) &amp; Behavior-Driven Development (BDD)</dc:title>
  <dc:subject/>
  <dc:creator>harnoor singh</dc:creator>
  <cp:keywords/>
  <dc:description>generated using python-pptx</dc:description>
  <cp:lastModifiedBy>harnoor singh</cp:lastModifiedBy>
  <cp:revision>6</cp:revision>
  <dcterms:created xsi:type="dcterms:W3CDTF">2013-01-27T09:14:16Z</dcterms:created>
  <dcterms:modified xsi:type="dcterms:W3CDTF">2025-07-24T06:35:07Z</dcterms:modified>
  <cp:category/>
</cp:coreProperties>
</file>