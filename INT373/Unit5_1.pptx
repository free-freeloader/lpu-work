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81" r:id="rId2"/>
    <p:sldId id="280" r:id="rId3"/>
    <p:sldId id="256" r:id="rId4"/>
    <p:sldId id="289" r:id="rId5"/>
    <p:sldId id="257" r:id="rId6"/>
    <p:sldId id="290" r:id="rId7"/>
    <p:sldId id="284" r:id="rId8"/>
    <p:sldId id="282" r:id="rId9"/>
    <p:sldId id="258" r:id="rId10"/>
    <p:sldId id="285" r:id="rId11"/>
    <p:sldId id="259" r:id="rId12"/>
    <p:sldId id="286" r:id="rId13"/>
    <p:sldId id="260" r:id="rId14"/>
    <p:sldId id="288" r:id="rId15"/>
    <p:sldId id="287" r:id="rId16"/>
    <p:sldId id="261" r:id="rId17"/>
    <p:sldId id="264" r:id="rId18"/>
    <p:sldId id="267" r:id="rId19"/>
    <p:sldId id="270" r:id="rId20"/>
    <p:sldId id="274" r:id="rId21"/>
    <p:sldId id="278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9953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038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1240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856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866776"/>
            <a:ext cx="7886700" cy="8239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27-11-2025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6340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27-11-2025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000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27-11-2025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093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987425"/>
            <a:ext cx="2949178" cy="1069974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213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987425"/>
            <a:ext cx="2949178" cy="106997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248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651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734291"/>
            <a:ext cx="1971675" cy="544267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734291"/>
            <a:ext cx="5800725" cy="544267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608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813302"/>
            <a:ext cx="7886700" cy="8773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19A9B-B0B4-4E41-AABB-F84B96A08CA1}" type="datetimeFigureOut">
              <a:rPr lang="en-IN" smtClean="0"/>
              <a:pPr/>
              <a:t>27-11-2025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62" y="136525"/>
            <a:ext cx="1350150" cy="62821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20000" contrast="-40000"/>
                    </a14:imgEffect>
                    <a14:imgEffect>
                      <a14:sharpenSoften amoun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813" t="24036" r="8813" b="24036"/>
          <a:stretch>
            <a:fillRect/>
          </a:stretch>
        </p:blipFill>
        <p:spPr>
          <a:xfrm>
            <a:off x="7905519" y="44450"/>
            <a:ext cx="1219662" cy="768852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578051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8E05EEA-224E-45EB-9C7A-73EEA255B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299959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6000" u="sng" dirty="0"/>
              <a:t>UNIT – 5 </a:t>
            </a:r>
          </a:p>
          <a:p>
            <a:pPr marL="0" indent="0" algn="ctr">
              <a:buNone/>
            </a:pPr>
            <a:endParaRPr lang="en-GB" sz="6000" u="sng" dirty="0"/>
          </a:p>
          <a:p>
            <a:pPr marL="0" indent="0" algn="ctr">
              <a:buNone/>
            </a:pPr>
            <a:r>
              <a:rPr lang="en-GB" sz="6000" dirty="0"/>
              <a:t>Part-1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1921676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91C55A7-6B62-4005-B2AD-1F56F5622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Table of Contents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19BFC95-CA45-41F3-98DF-5A945EC9A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Introduction to Scaling Agile Frameworks</a:t>
            </a:r>
          </a:p>
          <a:p>
            <a:r>
              <a:rPr lang="en-IN" dirty="0" err="1"/>
              <a:t>SAFe</a:t>
            </a:r>
            <a:r>
              <a:rPr lang="en-IN" dirty="0"/>
              <a:t> (Scaled Agile Framework)</a:t>
            </a:r>
          </a:p>
          <a:p>
            <a:r>
              <a:rPr lang="en-IN" dirty="0" err="1"/>
              <a:t>LeSS</a:t>
            </a:r>
            <a:r>
              <a:rPr lang="en-IN" dirty="0"/>
              <a:t> (Large Scale Scrum)</a:t>
            </a:r>
          </a:p>
          <a:p>
            <a:r>
              <a:rPr lang="en-IN" dirty="0" err="1"/>
              <a:t>Scrum@Scale</a:t>
            </a:r>
            <a:endParaRPr lang="en-IN" dirty="0"/>
          </a:p>
          <a:p>
            <a:r>
              <a:rPr lang="en-GB" dirty="0"/>
              <a:t>Agile Practices for Distributed and Large Teams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2192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259" y="813302"/>
            <a:ext cx="7886700" cy="877386"/>
          </a:xfrm>
        </p:spPr>
        <p:txBody>
          <a:bodyPr>
            <a:normAutofit/>
          </a:bodyPr>
          <a:lstStyle/>
          <a:p>
            <a:r>
              <a:rPr dirty="0"/>
              <a:t>Introduction to Scaling Agile Frameworks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200" dirty="0"/>
              <a:t>Scaling Agile involves extending Agile principles to large teams or organizations. </a:t>
            </a:r>
          </a:p>
          <a:p>
            <a:r>
              <a:rPr sz="3200" dirty="0"/>
              <a:t>It aims to maintain </a:t>
            </a:r>
            <a:r>
              <a:rPr sz="3200" dirty="0" err="1"/>
              <a:t>Agile’s</a:t>
            </a:r>
            <a:r>
              <a:rPr sz="3200" dirty="0"/>
              <a:t> flexibility and efficiency while handling the complexity of larger projects and distributed teams.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Comparison of Agile and Scaled Agile Framework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4" b="20328"/>
          <a:stretch/>
        </p:blipFill>
        <p:spPr bwMode="auto">
          <a:xfrm>
            <a:off x="0" y="1936462"/>
            <a:ext cx="8765309" cy="4233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6400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SAFe</a:t>
            </a:r>
            <a:r>
              <a:rPr dirty="0"/>
              <a:t> (Scaled Agile Framework)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200" dirty="0" err="1"/>
              <a:t>SAFe</a:t>
            </a:r>
            <a:r>
              <a:rPr sz="3200" dirty="0"/>
              <a:t> is a framework that allows for the implementation of Agile, Lean, and DevOps practices at scale. </a:t>
            </a:r>
          </a:p>
          <a:p>
            <a:r>
              <a:rPr sz="3200" dirty="0"/>
              <a:t>Key components include: Agile Teams, ARTs (Agile Release Trains), Value Streams, and Lean Portfolio Management.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To Scale Agile In An Organization follow 5 strategies - ShriLearni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" y="2048669"/>
            <a:ext cx="7143750" cy="390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9288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Introduction to the Scaled Agile Framework - Wimi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60" r="5648" b="9037"/>
          <a:stretch/>
        </p:blipFill>
        <p:spPr bwMode="auto">
          <a:xfrm>
            <a:off x="388670" y="1585011"/>
            <a:ext cx="8366659" cy="4832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8092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5A93897-B168-49B7-B555-C25574B01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55046"/>
            <a:ext cx="7886700" cy="5346969"/>
          </a:xfrm>
        </p:spPr>
        <p:txBody>
          <a:bodyPr>
            <a:noAutofit/>
          </a:bodyPr>
          <a:lstStyle/>
          <a:p>
            <a:pPr algn="just"/>
            <a:r>
              <a:rPr lang="en-GB" sz="2800" b="1" dirty="0"/>
              <a:t>Agile Teams:- </a:t>
            </a:r>
            <a:r>
              <a:rPr lang="en-GB" sz="2800" dirty="0"/>
              <a:t>Agile Teams are cross-functional groups of individuals who work collaboratively to deliver high-quality, incremental value in short cycles.</a:t>
            </a:r>
          </a:p>
          <a:p>
            <a:pPr algn="just"/>
            <a:r>
              <a:rPr lang="en-GB" sz="2800" b="1" dirty="0"/>
              <a:t>ARTs (Agile Release Trains):- </a:t>
            </a:r>
            <a:r>
              <a:rPr lang="en-GB" sz="2800" dirty="0"/>
              <a:t>Agile Release Trains (ARTs) are long-lived teams of Agile teams that plan, commit, and deliver together.</a:t>
            </a:r>
          </a:p>
          <a:p>
            <a:pPr algn="just"/>
            <a:r>
              <a:rPr lang="en-GB" sz="2800" b="1" dirty="0"/>
              <a:t>Value Streams:- </a:t>
            </a:r>
            <a:r>
              <a:rPr lang="en-GB" sz="2800" dirty="0"/>
              <a:t>Value Streams represent the series of steps that an organization uses to build solutions that provide continuous value to the customer.</a:t>
            </a:r>
          </a:p>
          <a:p>
            <a:pPr algn="just"/>
            <a:r>
              <a:rPr lang="en-GB" sz="2800" b="1" dirty="0"/>
              <a:t>Lean Portfolio Management:- </a:t>
            </a:r>
            <a:r>
              <a:rPr lang="en-GB" sz="2800" dirty="0"/>
              <a:t>Lean Portfolio Management (LPM) aligns strategy and execution by applying lean and systems thinking to portfolio-level decisions.</a:t>
            </a:r>
          </a:p>
          <a:p>
            <a:pPr algn="just"/>
            <a:endParaRPr lang="en-GB" sz="2800" dirty="0"/>
          </a:p>
          <a:p>
            <a:pPr algn="just"/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300926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LeSS</a:t>
            </a:r>
            <a:r>
              <a:rPr dirty="0"/>
              <a:t> (Large Scale Scrum)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3200" dirty="0" err="1"/>
              <a:t>LeSS</a:t>
            </a:r>
            <a:r>
              <a:rPr sz="3200" dirty="0"/>
              <a:t> is a simple, lightweight framework that scales Scrum to multiple teams working on a single product. </a:t>
            </a:r>
          </a:p>
          <a:p>
            <a:pPr algn="just"/>
            <a:r>
              <a:rPr sz="3200" dirty="0"/>
              <a:t>It focuses on empirical process control and transparency while keeping Scrum principles intact.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ntroduction to LeSS - Large Scale Scrum (LeSS)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145" y="434109"/>
            <a:ext cx="8617528" cy="5742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9944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Scrum@Scale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3200" dirty="0" err="1"/>
              <a:t>Scrum@Scale</a:t>
            </a:r>
            <a:r>
              <a:rPr sz="3200" dirty="0"/>
              <a:t> extends Scrum using a scale-free architecture. </a:t>
            </a:r>
          </a:p>
          <a:p>
            <a:pPr algn="just"/>
            <a:r>
              <a:rPr sz="3200" dirty="0"/>
              <a:t>It consists of the Scrum Master Cycle and the Product Owner Cycle, enabling coordination across teams and aligning them with organizational goals.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 descr="Scrum@Scale – Alex Karasyov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866" y="1229843"/>
            <a:ext cx="7618268" cy="5354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6203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 smtClean="0">
                <a:latin typeface="Adobe Garamond Pro Bold" panose="02020702060506020403" pitchFamily="18" charset="0"/>
              </a:rPr>
              <a:t>Agile Practices for Distributed and Large Teams</a:t>
            </a:r>
            <a:endParaRPr b="1" dirty="0">
              <a:latin typeface="Adobe Garamond Pro Bold" panose="020207020605060204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3200" dirty="0"/>
              <a:t>Key practices include:</a:t>
            </a:r>
          </a:p>
          <a:p>
            <a:r>
              <a:rPr sz="3200" dirty="0"/>
              <a:t>Regular and effective communication (e.g., daily stand-ups, retrospectives)</a:t>
            </a:r>
          </a:p>
          <a:p>
            <a:r>
              <a:rPr sz="3200" dirty="0"/>
              <a:t>Use of collaboration tools (e.g., Jira, Confluence, Slack)</a:t>
            </a:r>
          </a:p>
          <a:p>
            <a:r>
              <a:rPr sz="3200" dirty="0"/>
              <a:t>Time zone consideration and work synchronization</a:t>
            </a:r>
          </a:p>
          <a:p>
            <a:r>
              <a:rPr sz="3200" dirty="0"/>
              <a:t>Clear definition of roles, responsibilities, and workflows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 descr="Introduction to Distributed Agile Team | Distributed Agile Best Practic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477818"/>
            <a:ext cx="8572500" cy="4516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0913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526FBA8A-BCC3-4E0E-8473-2704F1DEDE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1009" y="914399"/>
            <a:ext cx="7512148" cy="5134709"/>
          </a:xfrm>
        </p:spPr>
      </p:pic>
    </p:spTree>
    <p:extLst>
      <p:ext uri="{BB962C8B-B14F-4D97-AF65-F5344CB8AC3E}">
        <p14:creationId xmlns:p14="http://schemas.microsoft.com/office/powerpoint/2010/main" val="742675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MCQ</a:t>
            </a:r>
            <a:r>
              <a:rPr lang="en-GB" dirty="0"/>
              <a:t>’s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sz="2000" dirty="0"/>
              <a:t>1.</a:t>
            </a:r>
            <a:r>
              <a:rPr sz="2000" dirty="0"/>
              <a:t>Which framework introduces Agile Release Trains (ARTs)?</a:t>
            </a:r>
          </a:p>
          <a:p>
            <a:pPr marL="0" indent="0">
              <a:buNone/>
            </a:pPr>
            <a:r>
              <a:rPr sz="2000" dirty="0"/>
              <a:t>A. </a:t>
            </a:r>
            <a:r>
              <a:rPr sz="2000" dirty="0" err="1"/>
              <a:t>SAFe</a:t>
            </a:r>
            <a:endParaRPr sz="2000" dirty="0"/>
          </a:p>
          <a:p>
            <a:pPr marL="0" indent="0">
              <a:buNone/>
            </a:pPr>
            <a:r>
              <a:rPr sz="2000" dirty="0"/>
              <a:t>B. </a:t>
            </a:r>
            <a:r>
              <a:rPr sz="2000" dirty="0" err="1"/>
              <a:t>LeSS</a:t>
            </a:r>
            <a:endParaRPr sz="2000" dirty="0"/>
          </a:p>
          <a:p>
            <a:pPr marL="0" indent="0">
              <a:buNone/>
            </a:pPr>
            <a:r>
              <a:rPr sz="2000" dirty="0"/>
              <a:t>C. </a:t>
            </a:r>
            <a:r>
              <a:rPr sz="2000" dirty="0" err="1"/>
              <a:t>Scrum@Scale</a:t>
            </a:r>
            <a:endParaRPr sz="2000" dirty="0"/>
          </a:p>
          <a:p>
            <a:pPr marL="0" indent="0">
              <a:buNone/>
            </a:pPr>
            <a:r>
              <a:rPr sz="2000" dirty="0"/>
              <a:t>D. None</a:t>
            </a:r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2. </a:t>
            </a:r>
            <a:r>
              <a:rPr lang="en-GB" sz="2000" dirty="0" err="1"/>
              <a:t>LeSS</a:t>
            </a:r>
            <a:r>
              <a:rPr lang="en-GB" sz="2000" dirty="0"/>
              <a:t> focuses on:</a:t>
            </a:r>
          </a:p>
          <a:p>
            <a:pPr marL="0" indent="0">
              <a:buNone/>
            </a:pPr>
            <a:r>
              <a:rPr lang="en-GB" sz="2000" dirty="0"/>
              <a:t>A. Introducing ARTs</a:t>
            </a:r>
          </a:p>
          <a:p>
            <a:pPr marL="0" indent="0">
              <a:buNone/>
            </a:pPr>
            <a:r>
              <a:rPr lang="en-GB" sz="2000" dirty="0"/>
              <a:t>B. Scaling Scrum with minimal changes</a:t>
            </a:r>
          </a:p>
          <a:p>
            <a:pPr marL="0" indent="0">
              <a:buNone/>
            </a:pPr>
            <a:r>
              <a:rPr lang="en-GB" sz="2000" dirty="0"/>
              <a:t>C. Implementing DevOps</a:t>
            </a:r>
          </a:p>
          <a:p>
            <a:pPr marL="0" indent="0">
              <a:buNone/>
            </a:pPr>
            <a:r>
              <a:rPr lang="en-GB" sz="2000" dirty="0"/>
              <a:t>D. Portfolio Management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3. </a:t>
            </a:r>
            <a:r>
              <a:rPr lang="en-GB" sz="2000" dirty="0" err="1"/>
              <a:t>Scrum@Scale</a:t>
            </a:r>
            <a:r>
              <a:rPr lang="en-GB" sz="2000" dirty="0"/>
              <a:t> uses what kind of architecture?</a:t>
            </a:r>
          </a:p>
          <a:p>
            <a:pPr marL="0" indent="0">
              <a:buNone/>
            </a:pPr>
            <a:r>
              <a:rPr lang="en-GB" sz="2000" dirty="0"/>
              <a:t>A. Centralized</a:t>
            </a:r>
          </a:p>
          <a:p>
            <a:pPr marL="0" indent="0">
              <a:buNone/>
            </a:pPr>
            <a:r>
              <a:rPr lang="en-GB" sz="2000" dirty="0"/>
              <a:t>B. Layered</a:t>
            </a:r>
          </a:p>
          <a:p>
            <a:pPr marL="0" indent="0">
              <a:buNone/>
            </a:pPr>
            <a:r>
              <a:rPr lang="en-GB" sz="2000" dirty="0"/>
              <a:t>C. Scale-free</a:t>
            </a:r>
          </a:p>
          <a:p>
            <a:pPr marL="0" indent="0">
              <a:buNone/>
            </a:pPr>
            <a:r>
              <a:rPr lang="en-GB" sz="2000" dirty="0"/>
              <a:t>D. Modular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sz="2000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25414"/>
            <a:ext cx="7886700" cy="538792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sz="2000" dirty="0"/>
              <a:t>4. </a:t>
            </a:r>
            <a:r>
              <a:rPr sz="2000" dirty="0"/>
              <a:t>A key principle of </a:t>
            </a:r>
            <a:r>
              <a:rPr sz="2000" dirty="0" err="1"/>
              <a:t>SAFe</a:t>
            </a:r>
            <a:r>
              <a:rPr sz="2000" dirty="0"/>
              <a:t> is:</a:t>
            </a:r>
          </a:p>
          <a:p>
            <a:pPr marL="0" indent="0">
              <a:buNone/>
            </a:pPr>
            <a:r>
              <a:rPr sz="2000" dirty="0"/>
              <a:t>A. Minimal Scrum</a:t>
            </a:r>
          </a:p>
          <a:p>
            <a:pPr marL="0" indent="0">
              <a:buNone/>
            </a:pPr>
            <a:r>
              <a:rPr sz="2000" dirty="0"/>
              <a:t>B. Sprints</a:t>
            </a:r>
          </a:p>
          <a:p>
            <a:pPr marL="0" indent="0">
              <a:buNone/>
            </a:pPr>
            <a:r>
              <a:rPr sz="2000" dirty="0"/>
              <a:t>C. Scale-free Architecture</a:t>
            </a:r>
          </a:p>
          <a:p>
            <a:pPr marL="0" indent="0">
              <a:buNone/>
            </a:pPr>
            <a:r>
              <a:rPr sz="2000" dirty="0"/>
              <a:t>D. Lean Portfolio Management</a:t>
            </a:r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5. Which framework emphasizes one product backlog for all teams?</a:t>
            </a:r>
          </a:p>
          <a:p>
            <a:pPr marL="0" indent="0">
              <a:buNone/>
            </a:pPr>
            <a:r>
              <a:rPr lang="en-GB" sz="2000" dirty="0"/>
              <a:t>A. </a:t>
            </a:r>
            <a:r>
              <a:rPr lang="en-GB" sz="2000" dirty="0" err="1"/>
              <a:t>LeSS</a:t>
            </a:r>
            <a:endParaRPr lang="en-GB" sz="2000" dirty="0"/>
          </a:p>
          <a:p>
            <a:pPr marL="0" indent="0">
              <a:buNone/>
            </a:pPr>
            <a:r>
              <a:rPr lang="en-GB" sz="2000" dirty="0"/>
              <a:t>B. </a:t>
            </a:r>
            <a:r>
              <a:rPr lang="en-GB" sz="2000" dirty="0" err="1"/>
              <a:t>SAFe</a:t>
            </a:r>
            <a:endParaRPr lang="en-GB" sz="2000" dirty="0"/>
          </a:p>
          <a:p>
            <a:pPr marL="0" indent="0">
              <a:buNone/>
            </a:pPr>
            <a:r>
              <a:rPr lang="en-GB" sz="2000" dirty="0"/>
              <a:t>C. </a:t>
            </a:r>
            <a:r>
              <a:rPr lang="en-GB" sz="2000" dirty="0" err="1"/>
              <a:t>Scrum@Scale</a:t>
            </a:r>
            <a:endParaRPr lang="en-GB" sz="2000" dirty="0"/>
          </a:p>
          <a:p>
            <a:pPr marL="0" indent="0">
              <a:buNone/>
            </a:pPr>
            <a:r>
              <a:rPr lang="en-GB" sz="2000" dirty="0"/>
              <a:t>D. None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6. Distributed Agile teams benefit most from:</a:t>
            </a:r>
          </a:p>
          <a:p>
            <a:pPr marL="0" indent="0">
              <a:buNone/>
            </a:pPr>
            <a:r>
              <a:rPr lang="en-GB" sz="2000" dirty="0"/>
              <a:t>A. Documentation</a:t>
            </a:r>
          </a:p>
          <a:p>
            <a:pPr marL="0" indent="0">
              <a:buNone/>
            </a:pPr>
            <a:r>
              <a:rPr lang="en-GB" sz="2000" dirty="0"/>
              <a:t>B. Communication Tools</a:t>
            </a:r>
          </a:p>
          <a:p>
            <a:pPr marL="0" indent="0">
              <a:buNone/>
            </a:pPr>
            <a:r>
              <a:rPr lang="en-GB" sz="2000" dirty="0"/>
              <a:t>C. Waterfall Processes</a:t>
            </a:r>
          </a:p>
          <a:p>
            <a:pPr marL="0" indent="0">
              <a:buNone/>
            </a:pPr>
            <a:r>
              <a:rPr lang="en-GB" sz="2000" dirty="0"/>
              <a:t>D. Isolation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858129"/>
            <a:ext cx="7886700" cy="566928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2000" dirty="0"/>
              <a:t>7. </a:t>
            </a:r>
            <a:r>
              <a:rPr sz="2000" dirty="0"/>
              <a:t>Which cycle is part of </a:t>
            </a:r>
            <a:r>
              <a:rPr sz="2000" dirty="0" err="1"/>
              <a:t>Scrum@Scale</a:t>
            </a:r>
            <a:r>
              <a:rPr sz="2000" dirty="0"/>
              <a:t>?</a:t>
            </a:r>
          </a:p>
          <a:p>
            <a:pPr marL="0" indent="0">
              <a:buNone/>
            </a:pPr>
            <a:r>
              <a:rPr sz="2000" dirty="0"/>
              <a:t>A. Scrum Master Cycle</a:t>
            </a:r>
          </a:p>
          <a:p>
            <a:pPr marL="0" indent="0">
              <a:buNone/>
            </a:pPr>
            <a:r>
              <a:rPr sz="2000" dirty="0"/>
              <a:t>B. DevOps Cycle</a:t>
            </a:r>
          </a:p>
          <a:p>
            <a:pPr marL="0" indent="0">
              <a:buNone/>
            </a:pPr>
            <a:r>
              <a:rPr sz="2000" dirty="0"/>
              <a:t>C. Kanban Cycle</a:t>
            </a:r>
          </a:p>
          <a:p>
            <a:pPr marL="0" indent="0">
              <a:buNone/>
            </a:pPr>
            <a:r>
              <a:rPr sz="2000" dirty="0"/>
              <a:t>D. Agile Cycle</a:t>
            </a:r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IN" sz="2000" dirty="0"/>
              <a:t>8. </a:t>
            </a:r>
            <a:r>
              <a:rPr lang="en-IN" sz="2000" dirty="0" err="1"/>
              <a:t>SAFe</a:t>
            </a:r>
            <a:r>
              <a:rPr lang="en-IN" sz="2000" dirty="0"/>
              <a:t> stands for:</a:t>
            </a:r>
          </a:p>
          <a:p>
            <a:pPr marL="0" indent="0">
              <a:buNone/>
            </a:pPr>
            <a:r>
              <a:rPr lang="en-IN" sz="2000" dirty="0"/>
              <a:t>A. Scrum Agile Framework</a:t>
            </a:r>
          </a:p>
          <a:p>
            <a:pPr marL="0" indent="0">
              <a:buNone/>
            </a:pPr>
            <a:r>
              <a:rPr lang="en-IN" sz="2000" dirty="0"/>
              <a:t>B. Scaled Agile Framework</a:t>
            </a:r>
          </a:p>
          <a:p>
            <a:pPr marL="0" indent="0">
              <a:buNone/>
            </a:pPr>
            <a:r>
              <a:rPr lang="en-IN" sz="2000" dirty="0"/>
              <a:t>C. Safe Agile Framework</a:t>
            </a:r>
          </a:p>
          <a:p>
            <a:pPr marL="0" indent="0">
              <a:buNone/>
            </a:pPr>
            <a:r>
              <a:rPr lang="en-IN" sz="2000" dirty="0"/>
              <a:t>D. Strategic Agile Framework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9. Agile for large teams often requires:</a:t>
            </a:r>
          </a:p>
          <a:p>
            <a:pPr marL="0" indent="0">
              <a:buNone/>
            </a:pPr>
            <a:r>
              <a:rPr lang="en-GB" sz="2000" dirty="0"/>
              <a:t>A. Isolation</a:t>
            </a:r>
          </a:p>
          <a:p>
            <a:pPr marL="0" indent="0">
              <a:buNone/>
            </a:pPr>
            <a:r>
              <a:rPr lang="en-GB" sz="2000" dirty="0"/>
              <a:t>B. Micro-management</a:t>
            </a:r>
          </a:p>
          <a:p>
            <a:pPr marL="0" indent="0">
              <a:buNone/>
            </a:pPr>
            <a:r>
              <a:rPr lang="en-GB" sz="2000" dirty="0"/>
              <a:t>C. Synchronization</a:t>
            </a:r>
          </a:p>
          <a:p>
            <a:pPr marL="0" indent="0">
              <a:buNone/>
            </a:pPr>
            <a:r>
              <a:rPr lang="en-GB" sz="2000" dirty="0"/>
              <a:t>D. Solo Sprints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sz="2000" dirty="0"/>
          </a:p>
          <a:p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069145"/>
            <a:ext cx="7886700" cy="56411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/>
              <a:t>10. </a:t>
            </a:r>
            <a:r>
              <a:rPr sz="2000" dirty="0" err="1"/>
              <a:t>LeSS</a:t>
            </a:r>
            <a:r>
              <a:rPr sz="2000" dirty="0"/>
              <a:t> uses how many roles from Scrum?</a:t>
            </a:r>
          </a:p>
          <a:p>
            <a:pPr marL="0" indent="0">
              <a:buNone/>
            </a:pPr>
            <a:r>
              <a:rPr sz="2000" dirty="0"/>
              <a:t>A. One</a:t>
            </a:r>
            <a:r>
              <a:rPr lang="en-GB" sz="2000" dirty="0"/>
              <a:t>          </a:t>
            </a:r>
            <a:r>
              <a:rPr sz="2000" dirty="0"/>
              <a:t>B. Two</a:t>
            </a:r>
            <a:r>
              <a:rPr lang="en-GB" sz="2000" dirty="0"/>
              <a:t>               </a:t>
            </a:r>
            <a:r>
              <a:rPr sz="2000" dirty="0"/>
              <a:t>C. Four</a:t>
            </a:r>
            <a:r>
              <a:rPr lang="en-GB" sz="2000" dirty="0"/>
              <a:t>                 </a:t>
            </a:r>
            <a:r>
              <a:rPr sz="2000" dirty="0"/>
              <a:t>D. Three</a:t>
            </a:r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11.Scrum@Scale integrates which roles?</a:t>
            </a:r>
          </a:p>
          <a:p>
            <a:pPr marL="0" indent="0">
              <a:buNone/>
            </a:pPr>
            <a:r>
              <a:rPr lang="en-GB" sz="2000" dirty="0"/>
              <a:t>A. Managers only						B. Developers only</a:t>
            </a:r>
          </a:p>
          <a:p>
            <a:pPr marL="0" indent="0">
              <a:buNone/>
            </a:pPr>
            <a:r>
              <a:rPr lang="en-GB" sz="2000" dirty="0"/>
              <a:t>C. Product Owner &amp; Scrum Master			D. Stakeholders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12. Which Agile framework is the most lightweight?</a:t>
            </a:r>
          </a:p>
          <a:p>
            <a:pPr marL="457200" indent="-457200">
              <a:buAutoNum type="alphaUcPeriod"/>
            </a:pPr>
            <a:r>
              <a:rPr lang="en-GB" sz="2000" dirty="0" err="1"/>
              <a:t>LeSS</a:t>
            </a:r>
            <a:r>
              <a:rPr lang="en-GB" sz="2000" dirty="0"/>
              <a:t>		B. </a:t>
            </a:r>
            <a:r>
              <a:rPr lang="en-GB" sz="2000" dirty="0" err="1"/>
              <a:t>SAFe</a:t>
            </a:r>
            <a:r>
              <a:rPr lang="en-GB" sz="2000" dirty="0"/>
              <a:t>	C. </a:t>
            </a:r>
            <a:r>
              <a:rPr lang="en-GB" sz="2000" dirty="0" err="1"/>
              <a:t>Scrum@Scale</a:t>
            </a:r>
            <a:r>
              <a:rPr lang="en-GB" sz="2000" dirty="0"/>
              <a:t>	D. None</a:t>
            </a:r>
          </a:p>
          <a:p>
            <a:pPr marL="457200" indent="-457200">
              <a:buAutoNum type="alphaUcPeriod"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13. </a:t>
            </a:r>
            <a:r>
              <a:rPr lang="en-GB" sz="2000" dirty="0" err="1"/>
              <a:t>SAFe</a:t>
            </a:r>
            <a:r>
              <a:rPr lang="en-GB" sz="2000" dirty="0"/>
              <a:t> includes the following element:</a:t>
            </a:r>
          </a:p>
          <a:p>
            <a:pPr marL="0" indent="0">
              <a:buNone/>
            </a:pPr>
            <a:r>
              <a:rPr lang="en-GB" sz="2000" dirty="0"/>
              <a:t>A. Teams of Teams				B. Value Streams</a:t>
            </a:r>
          </a:p>
          <a:p>
            <a:pPr marL="0" indent="0">
              <a:buNone/>
            </a:pPr>
            <a:r>
              <a:rPr lang="en-GB" sz="2000" dirty="0"/>
              <a:t>C. Design Thinking				D. Program Increments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56603"/>
            <a:ext cx="7886700" cy="522036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2000" dirty="0"/>
              <a:t>14. </a:t>
            </a:r>
            <a:r>
              <a:rPr sz="2000" dirty="0"/>
              <a:t>Large distributed teams require:</a:t>
            </a:r>
          </a:p>
          <a:p>
            <a:pPr marL="0" indent="0">
              <a:buNone/>
            </a:pPr>
            <a:r>
              <a:rPr sz="2000" dirty="0"/>
              <a:t>A. Clear role definitions</a:t>
            </a:r>
            <a:r>
              <a:rPr lang="en-GB" sz="2000" dirty="0"/>
              <a:t>			</a:t>
            </a:r>
            <a:r>
              <a:rPr sz="2000" dirty="0"/>
              <a:t>B. Independent projects</a:t>
            </a:r>
          </a:p>
          <a:p>
            <a:pPr marL="0" indent="0">
              <a:buNone/>
            </a:pPr>
            <a:r>
              <a:rPr sz="2000" dirty="0"/>
              <a:t>C. Fewer meetings</a:t>
            </a:r>
            <a:r>
              <a:rPr lang="en-GB" sz="2000" dirty="0"/>
              <a:t>				</a:t>
            </a:r>
            <a:r>
              <a:rPr sz="2000" dirty="0"/>
              <a:t>D. Solo decision-making</a:t>
            </a:r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15. </a:t>
            </a:r>
            <a:r>
              <a:rPr lang="en-GB" sz="2000" dirty="0" err="1"/>
              <a:t>Scrum@Scale</a:t>
            </a:r>
            <a:r>
              <a:rPr lang="en-GB" sz="2000" dirty="0"/>
              <a:t> aims to:</a:t>
            </a:r>
          </a:p>
          <a:p>
            <a:pPr marL="0" indent="0">
              <a:buNone/>
            </a:pPr>
            <a:r>
              <a:rPr lang="en-GB" sz="2000" dirty="0"/>
              <a:t>A. Replace Scrum				B. Eliminate product owners</a:t>
            </a:r>
          </a:p>
          <a:p>
            <a:pPr marL="0" indent="0">
              <a:buNone/>
            </a:pPr>
            <a:r>
              <a:rPr lang="en-GB" sz="2000" dirty="0"/>
              <a:t>C. Coordinate multiple Scrum teams	D. Create new methodologies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16. Which practice supports time zone differences?</a:t>
            </a:r>
          </a:p>
          <a:p>
            <a:pPr marL="0" indent="0">
              <a:buNone/>
            </a:pPr>
            <a:r>
              <a:rPr lang="en-GB" sz="2000" dirty="0"/>
              <a:t>A. Pair programming				B. Central meetings</a:t>
            </a:r>
          </a:p>
          <a:p>
            <a:pPr marL="0" indent="0">
              <a:buNone/>
            </a:pPr>
            <a:r>
              <a:rPr lang="en-GB" sz="2000" dirty="0"/>
              <a:t>C. Stand-up only				D. Asynchronous communication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17. </a:t>
            </a:r>
            <a:r>
              <a:rPr lang="en-GB" sz="2000" dirty="0" err="1"/>
              <a:t>LeSS</a:t>
            </a:r>
            <a:r>
              <a:rPr lang="en-GB" sz="2000" dirty="0"/>
              <a:t> advocates for:</a:t>
            </a:r>
          </a:p>
          <a:p>
            <a:pPr marL="0" indent="0">
              <a:buNone/>
            </a:pPr>
            <a:r>
              <a:rPr lang="en-GB" sz="2000" dirty="0"/>
              <a:t>A. Multiple Teams, multiple backlogs 	B. One Product Backlog</a:t>
            </a:r>
          </a:p>
          <a:p>
            <a:pPr marL="0" indent="0">
              <a:buNone/>
            </a:pPr>
            <a:r>
              <a:rPr lang="en-GB" sz="2000" dirty="0"/>
              <a:t>C. Independent Sprints			D. Local Planning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012874"/>
            <a:ext cx="7886700" cy="56130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/>
              <a:t>18. </a:t>
            </a:r>
            <a:r>
              <a:rPr sz="2000" dirty="0"/>
              <a:t>Which framework is known for detailed roles and artifacts?</a:t>
            </a:r>
          </a:p>
          <a:p>
            <a:pPr marL="0" indent="0">
              <a:buNone/>
            </a:pPr>
            <a:r>
              <a:rPr sz="2000" dirty="0"/>
              <a:t>A. </a:t>
            </a:r>
            <a:r>
              <a:rPr sz="2000" dirty="0" err="1"/>
              <a:t>SAFe</a:t>
            </a:r>
            <a:r>
              <a:rPr lang="en-GB" sz="2000" dirty="0"/>
              <a:t> 	</a:t>
            </a:r>
            <a:r>
              <a:rPr sz="2000" dirty="0"/>
              <a:t>B. </a:t>
            </a:r>
            <a:r>
              <a:rPr sz="2000" dirty="0" err="1"/>
              <a:t>LeSS</a:t>
            </a:r>
            <a:r>
              <a:rPr lang="en-GB" sz="2000" dirty="0"/>
              <a:t>	</a:t>
            </a:r>
            <a:r>
              <a:rPr sz="2000" dirty="0"/>
              <a:t>C. </a:t>
            </a:r>
            <a:r>
              <a:rPr sz="2000" dirty="0" err="1"/>
              <a:t>Scrum@Scale</a:t>
            </a:r>
            <a:r>
              <a:rPr lang="en-GB" sz="2000" dirty="0"/>
              <a:t>	</a:t>
            </a:r>
            <a:r>
              <a:rPr sz="2000" dirty="0"/>
              <a:t>D. None</a:t>
            </a:r>
            <a:endParaRPr lang="en-GB" sz="2000" dirty="0"/>
          </a:p>
          <a:p>
            <a:pPr marL="0" indent="0">
              <a:buNone/>
            </a:pPr>
            <a:endParaRPr sz="2000" dirty="0"/>
          </a:p>
          <a:p>
            <a:pPr marL="0" indent="0">
              <a:buNone/>
            </a:pPr>
            <a:r>
              <a:rPr lang="en-GB" sz="2000" dirty="0"/>
              <a:t>19. Scrum Master Cycle belongs to:</a:t>
            </a:r>
          </a:p>
          <a:p>
            <a:pPr marL="0" indent="0">
              <a:buNone/>
            </a:pPr>
            <a:r>
              <a:rPr lang="en-GB" sz="2000" dirty="0" err="1"/>
              <a:t>A.SAFe</a:t>
            </a:r>
            <a:r>
              <a:rPr lang="en-GB" sz="2000" dirty="0"/>
              <a:t>	B. </a:t>
            </a:r>
            <a:r>
              <a:rPr lang="en-GB" sz="2000" dirty="0" err="1"/>
              <a:t>LeSS</a:t>
            </a:r>
            <a:r>
              <a:rPr lang="en-GB" sz="2000" dirty="0"/>
              <a:t>	C. </a:t>
            </a:r>
            <a:r>
              <a:rPr lang="en-GB" sz="2000" dirty="0" err="1"/>
              <a:t>Scrum@Scale</a:t>
            </a:r>
            <a:r>
              <a:rPr lang="en-GB" sz="2000" dirty="0"/>
              <a:t>	D. Agile Manifesto</a:t>
            </a:r>
          </a:p>
          <a:p>
            <a:pPr marL="457200" indent="-457200">
              <a:buAutoNum type="alphaUcPeriod"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20. A principle of Agile scaling includes:</a:t>
            </a:r>
          </a:p>
          <a:p>
            <a:pPr marL="0" indent="0">
              <a:buNone/>
            </a:pPr>
            <a:r>
              <a:rPr lang="en-GB" sz="2000" dirty="0"/>
              <a:t>A. Siloed development</a:t>
            </a:r>
          </a:p>
          <a:p>
            <a:pPr marL="0" indent="0">
              <a:buNone/>
            </a:pPr>
            <a:r>
              <a:rPr lang="en-GB" sz="2000" dirty="0"/>
              <a:t>B. Cross-team collaboration</a:t>
            </a:r>
          </a:p>
          <a:p>
            <a:pPr marL="0" indent="0">
              <a:buNone/>
            </a:pPr>
            <a:r>
              <a:rPr lang="en-GB" sz="2000" dirty="0"/>
              <a:t>C. Role ambiguity</a:t>
            </a:r>
          </a:p>
          <a:p>
            <a:pPr marL="0" indent="0">
              <a:buNone/>
            </a:pPr>
            <a:r>
              <a:rPr lang="en-GB" sz="2000" dirty="0"/>
              <a:t>D. Isolated delivery</a:t>
            </a:r>
          </a:p>
          <a:p>
            <a:pPr marL="0" indent="0">
              <a:buNone/>
            </a:pPr>
            <a:endParaRPr lang="en-GB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2033</TotalTime>
  <Words>611</Words>
  <Application>Microsoft Office PowerPoint</Application>
  <PresentationFormat>On-screen Show (4:3)</PresentationFormat>
  <Paragraphs>126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Adobe Garamond Pro Bold</vt:lpstr>
      <vt:lpstr>Arial</vt:lpstr>
      <vt:lpstr>Calibri</vt:lpstr>
      <vt:lpstr>Calibri Light</vt:lpstr>
      <vt:lpstr>1_Office Theme</vt:lpstr>
      <vt:lpstr>PowerPoint Presentation</vt:lpstr>
      <vt:lpstr>Table of Contents</vt:lpstr>
      <vt:lpstr>Introduction to Scaling Agile Frameworks</vt:lpstr>
      <vt:lpstr>PowerPoint Presentation</vt:lpstr>
      <vt:lpstr>SAFe (Scaled Agile Framework)</vt:lpstr>
      <vt:lpstr>PowerPoint Presentation</vt:lpstr>
      <vt:lpstr>PowerPoint Presentation</vt:lpstr>
      <vt:lpstr>PowerPoint Presentation</vt:lpstr>
      <vt:lpstr>LeSS (Large Scale Scrum)</vt:lpstr>
      <vt:lpstr>PowerPoint Presentation</vt:lpstr>
      <vt:lpstr>Scrum@Scale</vt:lpstr>
      <vt:lpstr>PowerPoint Presentation</vt:lpstr>
      <vt:lpstr>Agile Practices for Distributed and Large Teams</vt:lpstr>
      <vt:lpstr>PowerPoint Presentation</vt:lpstr>
      <vt:lpstr>PowerPoint Presentation</vt:lpstr>
      <vt:lpstr>MCQ’s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Scaling Agile Frameworks</dc:title>
  <dc:subject/>
  <dc:creator>harnoor singh</dc:creator>
  <cp:keywords/>
  <dc:description>generated using python-pptx</dc:description>
  <cp:lastModifiedBy>harnoor singh</cp:lastModifiedBy>
  <cp:revision>20</cp:revision>
  <dcterms:created xsi:type="dcterms:W3CDTF">2013-01-27T09:14:16Z</dcterms:created>
  <dcterms:modified xsi:type="dcterms:W3CDTF">2025-11-28T08:26:16Z</dcterms:modified>
  <cp:category/>
</cp:coreProperties>
</file>