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5" r:id="rId4"/>
    <p:sldId id="277" r:id="rId5"/>
    <p:sldId id="276" r:id="rId6"/>
    <p:sldId id="282" r:id="rId7"/>
    <p:sldId id="283" r:id="rId8"/>
    <p:sldId id="287" r:id="rId9"/>
    <p:sldId id="286" r:id="rId10"/>
    <p:sldId id="288" r:id="rId11"/>
    <p:sldId id="289" r:id="rId12"/>
    <p:sldId id="281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13302"/>
            <a:ext cx="105156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5816" y="136525"/>
            <a:ext cx="180020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 xmlns="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10540692" y="44450"/>
            <a:ext cx="1626216" cy="768852"/>
          </a:xfrm>
          <a:prstGeom prst="rect">
            <a:avLst/>
          </a:prstGeom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1025"/>
            <a:ext cx="9144000" cy="1294266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3788"/>
            <a:ext cx="9144000" cy="2244012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Methodologies</a:t>
            </a:r>
            <a:endParaRPr 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Agile?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History and Evolution of Agile.</a:t>
            </a:r>
          </a:p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Agile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 Principles and 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</a:p>
          <a:p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Roles of the Agile Model.</a:t>
            </a:r>
          </a:p>
          <a:p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 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Ceremonies.</a:t>
            </a:r>
          </a:p>
          <a:p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 </a:t>
            </a:r>
            <a:r>
              <a:rPr lang="en-IN" alt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Artifacts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Process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Agile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32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283" y="638491"/>
            <a:ext cx="10515600" cy="8773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Agile?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53" y="1555036"/>
            <a:ext cx="6195215" cy="5032375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 is a flexible and iterative approach to project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software development.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delivering value incrementally by breaking down work into small, manageable pieces called iterations or sprints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promotes collaboration, adaptability, and continuous improvement.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wat is a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29" y="1624476"/>
            <a:ext cx="5500471" cy="451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722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and Evolution of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1950s-1970s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iterative methods emerged, including Incremental Development in software engineering.</a:t>
            </a:r>
          </a:p>
          <a:p>
            <a:pPr algn="just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1980s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Spiral Model introduced by Barry Boehm emphasized iterative risk management.</a:t>
            </a:r>
          </a:p>
          <a:p>
            <a:pPr algn="just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1990s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methodologies (e.g., Scrum, Extreme Programming) began to replace heavyweight, document-driven approaches like the Waterfall model.</a:t>
            </a:r>
          </a:p>
          <a:p>
            <a:pPr algn="just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Manifesto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created by 17 software developers, defining Agile principles and values.</a:t>
            </a:r>
          </a:p>
          <a:p>
            <a:pPr algn="just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is now applied across industries beyond software, including manufacturing, healthcare, and education.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587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Agile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Iterative and Incremental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divides work into small</a:t>
            </a:r>
          </a:p>
          <a:p>
            <a:pPr lvl="1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manageable cycles (sprints) with deliverables at the end of each.</a:t>
            </a:r>
          </a:p>
          <a:p>
            <a:pPr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focus on teamwork and stakeholder involvement throughout.</a:t>
            </a:r>
          </a:p>
          <a:p>
            <a:pPr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Responds to changes in requirements, even late in development.</a:t>
            </a:r>
          </a:p>
          <a:p>
            <a:pPr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Goal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value to the customer faster </a:t>
            </a:r>
          </a:p>
          <a:p>
            <a:pPr lvl="1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maintaining quality and flexibility.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at is a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854" y="1605727"/>
            <a:ext cx="3982006" cy="463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 Agile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6" y="1660849"/>
            <a:ext cx="5236028" cy="506652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 early and continuous value to customers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Welcome changing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requirements, even late in development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software frequently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Foster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between business and developers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around motivated individuals.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eliver Value frequently Ag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88183" y="1751057"/>
            <a:ext cx="5320938" cy="300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0158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6408"/>
            <a:ext cx="5257800" cy="529055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face-to-face communication as the most effective method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by working software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sustainable development pace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technical excellence and good design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 by minimizing unnecessary work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Empower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self-organizing teams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Reflect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adapt regularly for improvement.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what is Ag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07225" y="886408"/>
            <a:ext cx="5034349" cy="330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7211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gile explained: The 4 Agile Manifesto values and 12 principles - LogRocket  Blog">
            <a:extLst>
              <a:ext uri="{FF2B5EF4-FFF2-40B4-BE49-F238E27FC236}">
                <a16:creationId xmlns:a16="http://schemas.microsoft.com/office/drawing/2014/main" xmlns="" id="{98DCAC96-AAF9-4343-F163-88EF9B989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74797" y="784921"/>
            <a:ext cx="8042405" cy="528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7969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Roles in the Agile Model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99012" y="1799500"/>
            <a:ext cx="5366657" cy="43513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1.Product </a:t>
            </a:r>
            <a:r>
              <a:rPr lang="en-US" b="1" dirty="0" smtClean="0"/>
              <a:t>Owner</a:t>
            </a:r>
            <a:endParaRPr lang="en-US" dirty="0" smtClean="0"/>
          </a:p>
          <a:p>
            <a:r>
              <a:rPr lang="en-US" dirty="0" smtClean="0"/>
              <a:t>Defines the product vision and priorities.</a:t>
            </a:r>
          </a:p>
          <a:p>
            <a:pPr>
              <a:buNone/>
            </a:pPr>
            <a:r>
              <a:rPr lang="en-US" b="1" dirty="0" smtClean="0"/>
              <a:t>2.Scrum </a:t>
            </a:r>
            <a:r>
              <a:rPr lang="en-US" b="1" dirty="0" smtClean="0"/>
              <a:t>Master</a:t>
            </a:r>
            <a:endParaRPr lang="en-US" dirty="0" smtClean="0"/>
          </a:p>
          <a:p>
            <a:r>
              <a:rPr lang="en-US" dirty="0" smtClean="0"/>
              <a:t>Facilitates the Agile process and removes roadblocks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3.Development </a:t>
            </a:r>
            <a:r>
              <a:rPr lang="en-US" b="1" dirty="0" smtClean="0"/>
              <a:t>Team</a:t>
            </a:r>
            <a:endParaRPr lang="en-US" dirty="0" smtClean="0"/>
          </a:p>
          <a:p>
            <a:r>
              <a:rPr lang="en-US" dirty="0" smtClean="0"/>
              <a:t>A cross-functional group responsible for delivering the product increment.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 descr="k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977" y="1775731"/>
            <a:ext cx="5904411" cy="447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97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Ceremonies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87830" y="1698171"/>
            <a:ext cx="5486400" cy="479406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1.Sprint Planning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Define goals and tasks for the upcoming sprint</a:t>
            </a:r>
            <a:r>
              <a:rPr lang="en-US" dirty="0" smtClean="0"/>
              <a:t>.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2.Daily </a:t>
            </a:r>
            <a:r>
              <a:rPr lang="en-US" b="1" dirty="0" smtClean="0"/>
              <a:t>Stand-up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Short </a:t>
            </a:r>
            <a:r>
              <a:rPr lang="en-US" dirty="0" smtClean="0"/>
              <a:t>daily meetings to discuss progress and blockers.</a:t>
            </a:r>
          </a:p>
          <a:p>
            <a:pPr>
              <a:buNone/>
            </a:pPr>
            <a:r>
              <a:rPr lang="en-US" b="1" dirty="0" smtClean="0"/>
              <a:t>3.Sprint </a:t>
            </a:r>
            <a:r>
              <a:rPr lang="en-US" b="1" dirty="0" smtClean="0"/>
              <a:t>Review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Demonstrate </a:t>
            </a:r>
            <a:r>
              <a:rPr lang="en-US" dirty="0" smtClean="0"/>
              <a:t>completed work to stakeholders for feedback.</a:t>
            </a:r>
          </a:p>
          <a:p>
            <a:pPr>
              <a:buNone/>
            </a:pPr>
            <a:r>
              <a:rPr lang="en-US" b="1" dirty="0" smtClean="0"/>
              <a:t>4.Sprint </a:t>
            </a:r>
            <a:r>
              <a:rPr lang="en-US" b="1" dirty="0" smtClean="0"/>
              <a:t>Retrospective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Reflect </a:t>
            </a:r>
            <a:r>
              <a:rPr lang="en-US" dirty="0" smtClean="0"/>
              <a:t>on the sprint to identify improvements for the next cycle.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 descr="s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2063932"/>
            <a:ext cx="6408284" cy="424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97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Artifacts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99012" y="1799499"/>
            <a:ext cx="5249091" cy="47972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1.Product </a:t>
            </a:r>
            <a:r>
              <a:rPr lang="en-US" b="1" dirty="0" smtClean="0"/>
              <a:t>Backlog</a:t>
            </a:r>
            <a:endParaRPr lang="en-US" dirty="0" smtClean="0"/>
          </a:p>
          <a:p>
            <a:r>
              <a:rPr lang="en-US" dirty="0" smtClean="0"/>
              <a:t>A prioritized list of all desired features and tasks.</a:t>
            </a:r>
          </a:p>
          <a:p>
            <a:pPr>
              <a:buNone/>
            </a:pPr>
            <a:r>
              <a:rPr lang="en-US" b="1" dirty="0" smtClean="0"/>
              <a:t>2.Sprint </a:t>
            </a:r>
            <a:r>
              <a:rPr lang="en-US" b="1" dirty="0" smtClean="0"/>
              <a:t>Backlog</a:t>
            </a:r>
            <a:endParaRPr lang="en-US" dirty="0" smtClean="0"/>
          </a:p>
          <a:p>
            <a:r>
              <a:rPr lang="en-US" dirty="0" smtClean="0"/>
              <a:t>Selected items from the product backlog for the current sprint.</a:t>
            </a:r>
          </a:p>
          <a:p>
            <a:pPr>
              <a:buNone/>
            </a:pPr>
            <a:r>
              <a:rPr lang="en-US" b="1" dirty="0" smtClean="0"/>
              <a:t>3.Increment</a:t>
            </a:r>
            <a:endParaRPr lang="en-US" dirty="0" smtClean="0"/>
          </a:p>
          <a:p>
            <a:r>
              <a:rPr lang="en-US" dirty="0" smtClean="0"/>
              <a:t>The working product delivered at the end of a sprint, meeting the Definition of Done.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050" name="AutoShape 2" descr="Scrum Artifac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53271"/>
            <a:ext cx="5804428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97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Software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Process</a:t>
            </a:r>
          </a:p>
        </p:txBody>
      </p:sp>
      <p:pic>
        <p:nvPicPr>
          <p:cNvPr id="5" name="Picture 4" descr="wat is a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107" y="1758515"/>
            <a:ext cx="8240276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7502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12691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vs. Agile Outcomes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239711328"/>
              </p:ext>
            </p:extLst>
          </p:nvPr>
        </p:nvGraphicFramePr>
        <p:xfrm>
          <a:off x="1410789" y="1201784"/>
          <a:ext cx="9548947" cy="59801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683">
                  <a:extLst>
                    <a:ext uri="{9D8B030D-6E8A-4147-A177-3AD203B41FA5}">
                      <a16:colId xmlns:a16="http://schemas.microsoft.com/office/drawing/2014/main" xmlns="" val="1185639317"/>
                    </a:ext>
                  </a:extLst>
                </a:gridCol>
                <a:gridCol w="3771632">
                  <a:extLst>
                    <a:ext uri="{9D8B030D-6E8A-4147-A177-3AD203B41FA5}">
                      <a16:colId xmlns:a16="http://schemas.microsoft.com/office/drawing/2014/main" xmlns="" val="1624152523"/>
                    </a:ext>
                  </a:extLst>
                </a:gridCol>
                <a:gridCol w="3771632">
                  <a:extLst>
                    <a:ext uri="{9D8B030D-6E8A-4147-A177-3AD203B41FA5}">
                      <a16:colId xmlns:a16="http://schemas.microsoft.com/office/drawing/2014/main" xmlns="" val="2295409374"/>
                    </a:ext>
                  </a:extLst>
                </a:gridCol>
              </a:tblGrid>
              <a:tr h="3723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Feature/Aspect</a:t>
                      </a:r>
                    </a:p>
                  </a:txBody>
                  <a:tcPr marL="142875" marR="142875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Agile Project Management</a:t>
                      </a:r>
                    </a:p>
                  </a:txBody>
                  <a:tcPr marL="142875" marR="142875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Project Management</a:t>
                      </a:r>
                    </a:p>
                  </a:txBody>
                  <a:tcPr marL="142875" marR="142875" marT="95250" marB="95250" anchor="ctr"/>
                </a:tc>
                <a:extLst>
                  <a:ext uri="{0D108BD9-81ED-4DB2-BD59-A6C34878D82A}">
                    <a16:rowId xmlns:a16="http://schemas.microsoft.com/office/drawing/2014/main" xmlns="" val="3239505441"/>
                  </a:ext>
                </a:extLst>
              </a:tr>
              <a:tr h="44861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Iterative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xmlns="" val="2009046839"/>
                  </a:ext>
                </a:extLst>
              </a:tr>
              <a:tr h="387016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Phases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sprints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 phases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3735420696"/>
                  </a:ext>
                </a:extLst>
              </a:tr>
              <a:tr h="574649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Involvement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High, continuous feedback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Low, initial requirements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3406261970"/>
                  </a:ext>
                </a:extLst>
              </a:tr>
              <a:tr h="387016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Structure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Cross-functional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Functionally divided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956048420"/>
                  </a:ext>
                </a:extLst>
              </a:tr>
              <a:tr h="387016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Face-to-face, informal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Written, formal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416895357"/>
                  </a:ext>
                </a:extLst>
              </a:tr>
              <a:tr h="387016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Extensive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3874318517"/>
                  </a:ext>
                </a:extLst>
              </a:tr>
              <a:tr h="574649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Management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Easy, welcomed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Difficult, formal approval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340373393"/>
                  </a:ext>
                </a:extLst>
              </a:tr>
              <a:tr h="387016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Management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Managed continuously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Managed at project milestones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3275201311"/>
                  </a:ext>
                </a:extLst>
              </a:tr>
              <a:tr h="387016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 Time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Faster, incremental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Slower, at project end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903062395"/>
                  </a:ext>
                </a:extLst>
              </a:tr>
              <a:tr h="387016">
                <a:tc>
                  <a:txBody>
                    <a:bodyPr/>
                    <a:lstStyle/>
                    <a:p>
                      <a:pPr>
                        <a:lnSpc>
                          <a:spcPts val="2025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Focus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satisfaction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Adherence to requirements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711" marR="104711" marT="104711" marB="104711" anchor="ctr"/>
                </a:tc>
                <a:extLst>
                  <a:ext uri="{0D108BD9-81ED-4DB2-BD59-A6C34878D82A}">
                    <a16:rowId xmlns:a16="http://schemas.microsoft.com/office/drawing/2014/main" xmlns="" val="197780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9669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558</Words>
  <Application>Microsoft Office PowerPoint</Application>
  <PresentationFormat>Custom</PresentationFormat>
  <Paragraphs>109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UNIT-1</vt:lpstr>
      <vt:lpstr>Table of Content</vt:lpstr>
      <vt:lpstr>What is Agile?</vt:lpstr>
      <vt:lpstr>History and Evolution of Agile</vt:lpstr>
      <vt:lpstr>Key Characteristics of Agile</vt:lpstr>
      <vt:lpstr>The  Agile Principles</vt:lpstr>
      <vt:lpstr>Slide 7</vt:lpstr>
      <vt:lpstr>Slide 8</vt:lpstr>
      <vt:lpstr>Key Roles in the Agile Model</vt:lpstr>
      <vt:lpstr>Agile Ceremonies</vt:lpstr>
      <vt:lpstr>Agile Artifacts</vt:lpstr>
      <vt:lpstr>          Software Development Process</vt:lpstr>
      <vt:lpstr>Traditional vs. Agile Outcomes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Mittu</dc:creator>
  <cp:lastModifiedBy>SidPC</cp:lastModifiedBy>
  <cp:revision>117</cp:revision>
  <dcterms:created xsi:type="dcterms:W3CDTF">2024-01-05T12:53:00Z</dcterms:created>
  <dcterms:modified xsi:type="dcterms:W3CDTF">2025-01-24T06:00:50Z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7C091719EBE344EF8BB36FD6E682C72E</vt:lpwstr>
  </property>
  <property fmtid="{D5CDD505-2E9C-101B-9397-08002B2CF9AE}" pid="3" name="KSOProductBuildVer">
    <vt:lpwstr>1033-11.2.0.11225</vt:lpwstr>
  </property>
</Properties>
</file>